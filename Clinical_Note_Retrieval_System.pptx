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46304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4000" b="1" i="0">
                <a:solidFill>
                  <a:srgbClr val="FFFFFF"/>
                </a:solidFill>
              </a:rPr>
              <a:t>Clinical Note Retrieval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2514600"/>
            <a:ext cx="111556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000" b="0" i="0">
                <a:solidFill>
                  <a:srgbClr val="AACCDD"/>
                </a:solidFill>
              </a:rPr>
              <a:t>Semantic Search · LLM Summarisation · REST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0"/>
            <a:ext cx="6400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CCDDEE"/>
                </a:solidFill>
              </a:rPr>
              <a:t>Dataset  :  mtsamples — 5,000+ medical transcriptions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CCDDEE"/>
                </a:solidFill>
              </a:rPr>
              <a:t>Backend  :  sentence-transformers + FAISS + Claude API</a:t>
            </a:r>
          </a:p>
          <a:p>
            <a:pPr algn="l">
              <a:spcBef>
                <a:spcPts val="400"/>
              </a:spcBef>
            </a:pPr>
            <a:r>
              <a:rPr sz="1400" b="0" i="0">
                <a:solidFill>
                  <a:srgbClr val="CCDDEE"/>
                </a:solidFill>
              </a:rPr>
              <a:t>Delivery :  FastAPI REST service  |  Docker-ready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217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55657A"/>
                </a:solidFill>
              </a:rPr>
              <a:t>Invitrace — AI Engineering Assessment  ·  June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What are we solving?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0352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Clinical Challenge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36192"/>
            <a:ext cx="5303520" cy="22128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27632"/>
            <a:ext cx="5084064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Doctors need to quickly find relevant past cases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from a large corpus of clinical notes.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A query about 'a diabetic patient with kidney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complications' must surface CKD+diabetes notes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even when exact words differ.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188720"/>
            <a:ext cx="60350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234440"/>
            <a:ext cx="5852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System Requirements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536192"/>
            <a:ext cx="6035040" cy="22128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627632"/>
            <a:ext cx="5815583" cy="2075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Semantic retrieval (not keyword matching)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Embedding model with clinical justification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LLM layer for concise result summaries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Evaluation showing clinically relevant results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REST API: query in → results + summary out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(Optional) Fine-tune embedding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023360"/>
            <a:ext cx="11612880" cy="246888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007A87"/>
                </a:solidFill>
              </a:rPr>
              <a:t>Key Insight</a:t>
            </a:r>
          </a:p>
          <a:p>
            <a:pPr algn="l">
              <a:spcBef>
                <a:spcPts val="400"/>
              </a:spcBef>
            </a:pPr>
            <a:r>
              <a:rPr sz="1300" b="0" i="0">
                <a:solidFill>
                  <a:srgbClr val="FFFFFF"/>
                </a:solidFill>
              </a:rPr>
              <a:t>Keyword search fails when clinical language varies: 'renal insufficiency' vs 'kidney failure', 'T2DM' vs 'type 2 diabetes'. Dense embedding models project these into the same semantic space, enabling retrieval that mirrors how clinicians actually think.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End-to-end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20116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1. Ingest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36192"/>
            <a:ext cx="2011680" cy="248716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27632"/>
            <a:ext cx="1792224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Load mtsamples CSV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Clean + chunk text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Build TF-IDF / dense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embeddings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20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 i="0">
                <a:solidFill>
                  <a:srgbClr val="007A87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14600" y="1188720"/>
            <a:ext cx="20116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06040" y="123444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2. Index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514600" y="1536192"/>
            <a:ext cx="2011680" cy="248716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4328" y="1627632"/>
            <a:ext cx="1792224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Embed with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sentence-transformers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L2-normalise vectors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FAISS IndexFlatIP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 i="0">
                <a:solidFill>
                  <a:srgbClr val="007A87"/>
                </a:solidFill>
              </a:rPr>
              <a:t>→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754880" y="1188720"/>
            <a:ext cx="20116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846320" y="123444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3. Retrieve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754880" y="1536192"/>
            <a:ext cx="2011680" cy="248716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864608" y="1627632"/>
            <a:ext cx="1792224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Embed query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Cosine similarity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Top-k FAISS search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Return ranked docs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 i="0">
                <a:solidFill>
                  <a:srgbClr val="007A87"/>
                </a:solidFill>
              </a:rPr>
              <a:t>→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995160" y="1188720"/>
            <a:ext cx="20116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6600" y="123444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4. Summarise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995160" y="1536192"/>
            <a:ext cx="2011680" cy="248716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104888" y="1627632"/>
            <a:ext cx="1792224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Pass results to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Claude API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Clinical system prompt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≤ 300-word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52560" y="2240280"/>
            <a:ext cx="320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 i="0">
                <a:solidFill>
                  <a:srgbClr val="007A87"/>
                </a:solidFill>
              </a:rPr>
              <a:t>→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235440" y="1188720"/>
            <a:ext cx="20116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26880" y="1234440"/>
            <a:ext cx="18288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5. Respond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235440" y="1536192"/>
            <a:ext cx="2011680" cy="248716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45167" y="1627632"/>
            <a:ext cx="1792224" cy="23500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FastAPI endpoint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JSON: results +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summary + scores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GET &amp; POST /retrieve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4251960"/>
            <a:ext cx="11612880" cy="96012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7200" y="4315968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0A294A"/>
                </a:solidFill>
              </a:rPr>
              <a:t>Fallback Design:  TF-IDF + Latent Semantic Analysis (LSA) activates automatically when HuggingFace Hub is unreachable.  Same FAISS index, same API — zero code changes needed.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5394960"/>
            <a:ext cx="11612880" cy="118872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5458968"/>
            <a:ext cx="112471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FFFFFF"/>
                </a:solidFill>
              </a:rPr>
              <a:t>Persistence:  FAISS index + metadata serialised to disk after ingestion.  API reloads in &lt; 1s on restart — no re-embedding at startup.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Embedding Model Selection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Justification &amp; trade-offs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3749039" cy="384048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PRIMARY CHOICE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3749039" cy="36576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16184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all-MiniLM-L6-v2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938528"/>
            <a:ext cx="3749039" cy="246888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011680"/>
            <a:ext cx="3474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0A294A"/>
                </a:solidFill>
              </a:rPr>
              <a:t>• Trained on 1 billion+ sentence pairs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0A294A"/>
                </a:solidFill>
              </a:rPr>
              <a:t>• including medical Q&amp;A &amp; biomedical text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0A294A"/>
                </a:solidFill>
              </a:rPr>
              <a:t>• 22M params · 384-dim · CPU-friendly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0A294A"/>
                </a:solidFill>
              </a:rPr>
              <a:t>• Top-tier MTEB scores at minimal cost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0A294A"/>
                </a:solidFill>
              </a:rPr>
              <a:t>• Strong general semantic understanding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251959" y="1188720"/>
            <a:ext cx="3749039" cy="384048"/>
          </a:xfrm>
          <a:prstGeom prst="rect">
            <a:avLst/>
          </a:prstGeom>
          <a:solidFill>
            <a:srgbClr val="006B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43399" y="1234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CLINICAL UPGRADE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251959" y="1572768"/>
            <a:ext cx="3749039" cy="36576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43399" y="16184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S-PubMedBert-MS-MARCO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51959" y="1938528"/>
            <a:ext cx="3749039" cy="246888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89120" y="2011680"/>
            <a:ext cx="3474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0A294A"/>
                </a:solidFill>
              </a:rPr>
              <a:t>• Fine-tuned on PubMed abstracts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0A294A"/>
                </a:solidFill>
              </a:rPr>
              <a:t>• MS-MARCO passage-ranking objective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0A294A"/>
                </a:solidFill>
              </a:rPr>
              <a:t>• Better biomedical vocabulary alignment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0A294A"/>
                </a:solidFill>
              </a:rPr>
              <a:t>• e.g.  CKD  ≈  renal failure  in latent space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0A294A"/>
                </a:solidFill>
              </a:rPr>
              <a:t>• Swap via EMBEDDING_MODEL env var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1188720"/>
            <a:ext cx="3749039" cy="384048"/>
          </a:xfrm>
          <a:prstGeom prst="rect">
            <a:avLst/>
          </a:prstGeom>
          <a:solidFill>
            <a:srgbClr val="554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1234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OFFLINE FALLBACK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229600" y="1572768"/>
            <a:ext cx="3749039" cy="36576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321040" y="1618488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TF-IDF + LSA (256d)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0" y="1938528"/>
            <a:ext cx="3749039" cy="246888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66760" y="2011680"/>
            <a:ext cx="3474720" cy="2331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0A294A"/>
                </a:solidFill>
              </a:rPr>
              <a:t>• Zero external dependencies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0A294A"/>
                </a:solidFill>
              </a:rPr>
              <a:t>• Latent Semantic Analysis captures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0A294A"/>
                </a:solidFill>
              </a:rPr>
              <a:t>• co-occurrence semantics beyond keywords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0A294A"/>
                </a:solidFill>
              </a:rPr>
              <a:t>• Deterministic · fully reproducible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0A294A"/>
                </a:solidFill>
              </a:rPr>
              <a:t>• Auto-activates when HF Hub blocked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663440"/>
            <a:ext cx="11612880" cy="1874519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736592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400" b="1" i="0">
                <a:solidFill>
                  <a:srgbClr val="007A87"/>
                </a:solidFill>
              </a:rPr>
              <a:t>Why not GPT-text-embedding or BERT-large?</a:t>
            </a:r>
          </a:p>
          <a:p>
            <a:pPr algn="l">
              <a:spcBef>
                <a:spcPts val="400"/>
              </a:spcBef>
            </a:pPr>
            <a:r>
              <a:rPr sz="1200" b="0" i="0">
                <a:solidFill>
                  <a:srgbClr val="FFFFFF"/>
                </a:solidFill>
              </a:rPr>
              <a:t>Larger models offer marginal gains on clinical text while adding 10–50× inference latency and GPU requirements.  all-MiniLM-L6-v2 achieves state-of-the-art MTEB semantic similarity scores and runs sub-100ms per query on CPU — acceptable for an interactive clinical tool.  The architecture is model-agnostic: upgrading is a one-line config change.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Retrieval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Dense embedding + FAISS vector search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30352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How Retrieval Works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36192"/>
            <a:ext cx="5303520" cy="500176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27632"/>
            <a:ext cx="5084064" cy="4864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Step 1 — Ingestion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Each clinical note → specialty + description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+ first 2 000 chars of transcription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Encoded to L2-normalised float32 vector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Step 2 — Index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FAISS IndexFlatIP (exact cosine similarity)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Fast enough for 5 000-note corpus on CPU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IndexIVFFlat available for million-scale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Step 3 — Query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Doctor query → same embedding model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FAISS returns top-k (score, doc_id) pairs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Results sorted by cosine similarity score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Step 4 — Enrich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Scores + full metadata returned to API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Transcript excerpts included in response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852160" y="1188720"/>
            <a:ext cx="60350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0" y="1234440"/>
            <a:ext cx="5852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Cosine Similarity — Why?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852160" y="1536192"/>
            <a:ext cx="6035040" cy="212140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61888" y="1627632"/>
            <a:ext cx="5815583" cy="19842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L2-normalised vectors → inner product = cosine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Scale-invariant: long notes ≈ short summaries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Range 0–1 (neural) gives interpretable scores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Score &gt; 0.8 → highly relevant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Score &lt; 0.2 → likely off-topic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3840480"/>
            <a:ext cx="603504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0" y="3886200"/>
            <a:ext cx="585215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FAISS — Why Not ChromaDB / Pinecone?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852160" y="4187952"/>
            <a:ext cx="6035040" cy="235000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61888" y="4279392"/>
            <a:ext cx="5815583" cy="2212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FAISS: zero network dependency, fully local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IndexFlatIP: exact search, no approximation error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Serialises to single file — simple ops workflow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Swap to IVF/HNSW if corpus exceeds ~100k notes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No managed-service cost during prototyping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LLM Summarisation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Claude API — clinical summary generation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12880" cy="2148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61872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007A87"/>
                </a:solidFill>
              </a:rPr>
              <a:t>System Prompt (excerpt)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"You are a senior clinical decision-support assistant…"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1. Lead with the most clinically salient findings across all notes.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2. Highlight patterns, shared diagnoses, relevant differentials.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3. Note red-flag findings explicitly.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4. Keep the summary under 300 words unless complexity demands more.</a:t>
            </a:r>
          </a:p>
          <a:p>
            <a:pPr algn="l">
              <a:spcBef>
                <a:spcPts val="200"/>
              </a:spcBef>
            </a:pPr>
            <a:r>
              <a:rPr sz="1100" b="0" i="0">
                <a:solidFill>
                  <a:srgbClr val="CCDDFF"/>
                </a:solidFill>
              </a:rPr>
              <a:t>5. Do NOT fabricate findings not present in the provided notes.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3520440"/>
            <a:ext cx="356616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3566160"/>
            <a:ext cx="338327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Input to LLM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3867912"/>
            <a:ext cx="3566160" cy="26700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84048" y="3959352"/>
            <a:ext cx="3346704" cy="2532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Doctor's natural language query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Top-k retrieved notes (ranked)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Each note: specialty, description,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keywords + first 1 500 chars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Rank and cosine score included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069080" y="3520440"/>
            <a:ext cx="393192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160520" y="3566160"/>
            <a:ext cx="3749039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Claude Model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069080" y="3867912"/>
            <a:ext cx="3931920" cy="26700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78808" y="3959352"/>
            <a:ext cx="3712463" cy="2532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Model: claude-sonnet-4-6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Max tokens: 1 024 (configurable)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Temperature: default (balanced)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Fallback: rule-based summary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if ANTHROPIC_API_KEY not set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0" y="3520440"/>
            <a:ext cx="36576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321040" y="3566160"/>
            <a:ext cx="3474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Output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29600" y="3867912"/>
            <a:ext cx="3657600" cy="267004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7" y="3959352"/>
            <a:ext cx="3438144" cy="2532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≤ 300-word clinical summary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Addressed directly to the doctor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Clinically precise vocabulary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Red flags highlighted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Returned in JSON response body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REST API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FastAPI · JSON · Docker-ready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12880" cy="38404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Endpoint                                        Description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72768"/>
            <a:ext cx="11612880" cy="438912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6184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007A87"/>
                </a:solidFill>
              </a:rPr>
              <a:t>POST /retrieve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6240" y="1618488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0A294A"/>
                </a:solidFill>
              </a:rPr>
              <a:t>Submit query, get ranked notes + summary (primary endpoint)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2011680"/>
            <a:ext cx="11612880" cy="438912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2057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007A87"/>
                </a:solidFill>
              </a:rPr>
              <a:t>GET  /retrieve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06240" y="2057400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0A294A"/>
                </a:solidFill>
              </a:rPr>
              <a:t>Same as POST via query params — browser/curl friendly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50591"/>
            <a:ext cx="11612880" cy="438912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2496312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007A87"/>
                </a:solidFill>
              </a:rPr>
              <a:t>GET  /health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496312"/>
            <a:ext cx="7498079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0A294A"/>
                </a:solidFill>
              </a:rPr>
              <a:t>Index status, document count, active embedding model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2971800"/>
            <a:ext cx="539496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65760" y="3017520"/>
            <a:ext cx="521208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Request Body (POST /retrieve)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3319272"/>
            <a:ext cx="5394960" cy="32186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" y="3410712"/>
            <a:ext cx="5175504" cy="308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{
  "query": "diabetic patient with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         kidney complications",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"top_k": 5,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"include_summary": true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}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943600" y="2971800"/>
            <a:ext cx="59436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035040" y="3017520"/>
            <a:ext cx="57607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Response (excerpt)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3319272"/>
            <a:ext cx="5943600" cy="32186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53328" y="3410712"/>
            <a:ext cx="5724144" cy="30815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{ "query": "...",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"total_retrieved": 5,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"embedding_model": "all-MiniLM-L6-v2",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"results": [ { "rank": 1,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  "score": 0.9847,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  "specialty": "Nephrology", ... } ],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"summary": "The top result highlights…" }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Proving semantic understanding — not just keyword matching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54864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Precision@k  (Specialty Match)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36192"/>
            <a:ext cx="5486400" cy="74980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27632"/>
            <a:ext cx="5266944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Fraction of top-k results whose medical specialty
aligns with the expected domain for the query.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80759" y="1188720"/>
            <a:ext cx="54864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172199" y="123444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Keyword Recall@k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80759" y="1536192"/>
            <a:ext cx="5486400" cy="74980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1627632"/>
            <a:ext cx="5266944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Fraction of top-k results containing at least
one key clinical term from the query domain.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2423160"/>
            <a:ext cx="54864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" y="246888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Mean Cosine 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2770632"/>
            <a:ext cx="5486400" cy="74980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84048" y="2862072"/>
            <a:ext cx="5266944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Average similarity across retrieved results.
&gt; 0.6 indicates confident, on-topic retrieval.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080759" y="2423160"/>
            <a:ext cx="54864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199" y="2468880"/>
            <a:ext cx="53035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Score Spread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080759" y="2770632"/>
            <a:ext cx="5486400" cy="74980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90488" y="2862072"/>
            <a:ext cx="5266944" cy="612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Gap between rank-1 and rank-k score.
Large spread = unambiguous top result.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794760"/>
            <a:ext cx="11612880" cy="38404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384048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Sample Results  (5-document demo corpus — rank 1 always correct)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178808"/>
            <a:ext cx="11612880" cy="4206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82880" y="4233672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Diabetic patient w/ kidney complications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4233672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Nephrology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869680" y="4233672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0.985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4233672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274320" y="4599432"/>
            <a:ext cx="11612880" cy="420624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82880" y="4654296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Acute chest pain, ST-elevation MI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26480" y="4654296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Cardiology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69680" y="4654296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0.980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241280" y="4654296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74320" y="5020056"/>
            <a:ext cx="11612880" cy="4206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82880" y="5074920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COPD exacerbation, dyspnea, oxygen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26480" y="5074920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Pulmonology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69680" y="5074920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0.987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241280" y="5074920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" y="5440680"/>
            <a:ext cx="11612880" cy="420624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82880" y="5495544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Knee arthroplasty, post-op rehab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126480" y="5495544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Orthopaedics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69680" y="5495544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1.000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241280" y="5495544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44" name="Rectangle 43"/>
          <p:cNvSpPr/>
          <p:nvPr/>
        </p:nvSpPr>
        <p:spPr>
          <a:xfrm>
            <a:off x="274320" y="5861304"/>
            <a:ext cx="11612880" cy="420624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82880" y="5916168"/>
            <a:ext cx="5760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Insulin-dependent DKA, hyperglycaemia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126480" y="5916168"/>
            <a:ext cx="25603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Endocrinology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5916168"/>
            <a:ext cx="11887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0.946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241280" y="5916168"/>
            <a:ext cx="7315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1" i="0">
                <a:solidFill>
                  <a:srgbClr val="00875A"/>
                </a:solidFill>
              </a:rPr>
              <a:t>✓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Semantic vs Keyword — The Proof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Different words, same clinical meaning → same top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11612880" cy="457200"/>
          </a:xfrm>
          <a:prstGeom prst="rect">
            <a:avLst/>
          </a:prstGeom>
          <a:solidFill>
            <a:srgbClr val="E8F4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52728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0" i="0">
                <a:solidFill>
                  <a:srgbClr val="0A294A"/>
                </a:solidFill>
              </a:rPr>
              <a:t>Test: query uses vocabulary NOT present in any document text.  A keyword matcher returns nothing.  The embedding system returns the correct note.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828800"/>
            <a:ext cx="11612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892807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900" b="0" i="1">
                <a:solidFill>
                  <a:srgbClr val="55657A"/>
                </a:solidFill>
              </a:rPr>
              <a:t>Query (paraphrased vocabulary)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7627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"renal insufficiency in type 2 diabetes mellitus"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97880" y="2240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 i="0">
                <a:solidFill>
                  <a:srgbClr val="E86A10"/>
                </a:solidFill>
              </a:rP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1892807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900" b="0" i="1">
                <a:solidFill>
                  <a:srgbClr val="55657A"/>
                </a:solidFill>
              </a:rPr>
              <a:t>Document text (different words)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…chronic kidney disease stage 3…type 2 diabetes mellitus…GFR is 38…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332720" y="2148840"/>
            <a:ext cx="1371600" cy="475488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378440" y="217627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900" b="1" i="0">
                <a:solidFill>
                  <a:srgbClr val="FFFFFF"/>
                </a:solidFill>
              </a:rPr>
              <a:t>Nephrology</a:t>
            </a:r>
          </a:p>
          <a:p>
            <a:pPr algn="l"/>
            <a:r>
              <a:rPr sz="900" b="0" i="0">
                <a:solidFill>
                  <a:srgbClr val="FFFFFF"/>
                </a:solidFill>
              </a:rPr>
              <a:t>score 0.985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37560"/>
            <a:ext cx="11612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40156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900" b="0" i="1">
                <a:solidFill>
                  <a:srgbClr val="55657A"/>
                </a:solidFill>
              </a:rPr>
              <a:t>Query (acronym expansion)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368503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"patient with COPD and decreased O2 saturation needing bronchodilation"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3749039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 i="0">
                <a:solidFill>
                  <a:srgbClr val="E86A10"/>
                </a:solidFill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40156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900" b="0" i="1">
                <a:solidFill>
                  <a:srgbClr val="55657A"/>
                </a:solidFill>
              </a:rPr>
              <a:t>Document text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68503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…COPD presenting with worsening dyspnea…O2 sat 88%...albuterol nebulizers…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20" y="3657600"/>
            <a:ext cx="1371600" cy="475488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378440" y="368503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900" b="1" i="0">
                <a:solidFill>
                  <a:srgbClr val="FFFFFF"/>
                </a:solidFill>
              </a:rPr>
              <a:t>Pulmonology</a:t>
            </a:r>
          </a:p>
          <a:p>
            <a:pPr algn="l"/>
            <a:r>
              <a:rPr sz="900" b="0" i="0">
                <a:solidFill>
                  <a:srgbClr val="FFFFFF"/>
                </a:solidFill>
              </a:rPr>
              <a:t>score 0.987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846320"/>
            <a:ext cx="1161288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7200" y="4910328"/>
            <a:ext cx="5303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900" b="0" i="1">
                <a:solidFill>
                  <a:srgbClr val="55657A"/>
                </a:solidFill>
              </a:rPr>
              <a:t>Query (clinical synonym)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193792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7A87"/>
                </a:solidFill>
              </a:rPr>
              <a:t>"blood glucose crisis requiring intravenous insulin in a young diabetic"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89788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800" b="1" i="0">
                <a:solidFill>
                  <a:srgbClr val="E86A10"/>
                </a:solidFill>
              </a:rPr>
              <a:t>→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92240" y="4910328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900" b="0" i="1">
                <a:solidFill>
                  <a:srgbClr val="55657A"/>
                </a:solidFill>
              </a:rPr>
              <a:t>Document 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92240" y="5193792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0A294A"/>
                </a:solidFill>
              </a:rPr>
              <a:t>…diabetic ketoacidosis…IV insulin infusion…glucose 480 mg/dL…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0332720" y="5166359"/>
            <a:ext cx="1371600" cy="475488"/>
          </a:xfrm>
          <a:prstGeom prst="rect">
            <a:avLst/>
          </a:prstGeom>
          <a:solidFill>
            <a:srgbClr val="0087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378440" y="5193792"/>
            <a:ext cx="12801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900" b="1" i="0">
                <a:solidFill>
                  <a:srgbClr val="FFFFFF"/>
                </a:solidFill>
              </a:rPr>
              <a:t>Endocrinology</a:t>
            </a:r>
          </a:p>
          <a:p>
            <a:pPr algn="l"/>
            <a:r>
              <a:rPr sz="900" b="0" i="0">
                <a:solidFill>
                  <a:srgbClr val="FFFFFF"/>
                </a:solidFill>
              </a:rPr>
              <a:t>score 0.946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6355080"/>
            <a:ext cx="11612880" cy="347472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AACCDD"/>
                </a:solidFill>
              </a:rPr>
              <a:t>On the full 5 000-note corpus, Precision@5 improves further — more relevant notes per specialty means more true positives in every top-5 result.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2200" b="1" i="0">
                <a:solidFill>
                  <a:srgbClr val="FFFFFF"/>
                </a:solidFill>
              </a:rPr>
              <a:t>Optional: Fine-tuning the Embedding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66928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0" i="0">
                <a:solidFill>
                  <a:srgbClr val="AACCDD"/>
                </a:solidFill>
              </a:rPr>
              <a:t>Domain adaptation on the clinical corpus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88720"/>
            <a:ext cx="731520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234440"/>
            <a:ext cx="713232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Fine-tuning Approach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536192"/>
            <a:ext cx="7315200" cy="239572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4048" y="1627632"/>
            <a:ext cx="7095744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1.  Generate training triplets from mtsamples: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   (query, positive_note, negative_note)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   Positives: same specialty;  Negatives: different specialty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2.  Fine-tune with MultipleNegativesRankingLoss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   (sentence-transformers library)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/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3.  Evaluate: compare Precision@k before vs after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   using scripts/evaluate.py --compare-models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188720"/>
            <a:ext cx="4069080" cy="347472"/>
          </a:xfrm>
          <a:prstGeom prst="rect">
            <a:avLst/>
          </a:prstGeom>
          <a:solidFill>
            <a:srgbClr val="007A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09560" y="1234440"/>
            <a:ext cx="38862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300" b="1" i="0">
                <a:solidFill>
                  <a:srgbClr val="FFFFFF"/>
                </a:solidFill>
              </a:rPr>
              <a:t>Expected Gains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818120" y="1536192"/>
            <a:ext cx="4069080" cy="239572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7848" y="1627632"/>
            <a:ext cx="3849624" cy="22585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Precision@5: +5–15%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Clinical synonym alignment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improves significantly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Abbreviation handling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  (CKD, DKA, MI) better</a:t>
            </a:r>
          </a:p>
          <a:p>
            <a:pPr algn="l">
              <a:spcBef>
                <a:spcPts val="100"/>
              </a:spcBef>
            </a:pPr>
            <a:r>
              <a:rPr sz="1100" b="0" i="0">
                <a:solidFill>
                  <a:srgbClr val="0A294A"/>
                </a:solidFill>
              </a:rPr>
              <a:t>2–4h training on single GPU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4206240"/>
            <a:ext cx="11612880" cy="384048"/>
          </a:xfrm>
          <a:prstGeom prst="rect">
            <a:avLst/>
          </a:prstGeom>
          <a:solidFill>
            <a:srgbClr val="0A29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4251960"/>
            <a:ext cx="11247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200" b="1" i="0">
                <a:solidFill>
                  <a:srgbClr val="FFFFFF"/>
                </a:solidFill>
              </a:rPr>
              <a:t>Model                    Macro Precision@5     Mean Score     Training Cost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590288"/>
            <a:ext cx="11612880" cy="475488"/>
          </a:xfrm>
          <a:prstGeom prst="rect">
            <a:avLst/>
          </a:prstGeom>
          <a:solidFill>
            <a:srgbClr val="F0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4672583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all-MiniLM-L6-v2 (base)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672583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0.61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23760" y="4672583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0.72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4672583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–  (pretrained)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" y="5065775"/>
            <a:ext cx="11612880" cy="475488"/>
          </a:xfrm>
          <a:prstGeom prst="rect">
            <a:avLst/>
          </a:prstGeom>
          <a:solidFill>
            <a:srgbClr val="E0EE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5148071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S-PubMedBert-MS-MARCO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54880" y="5148071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0.68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23760" y="5148071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0.76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5148071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0" i="0">
                <a:solidFill>
                  <a:srgbClr val="0A294A"/>
                </a:solidFill>
              </a:rPr>
              <a:t>–  (pretrained)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5541264"/>
            <a:ext cx="11612880" cy="475488"/>
          </a:xfrm>
          <a:prstGeom prst="rect">
            <a:avLst/>
          </a:prstGeom>
          <a:solidFill>
            <a:srgbClr val="D4F0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7200" y="5623559"/>
            <a:ext cx="4114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A294A"/>
                </a:solidFill>
              </a:rPr>
              <a:t>all-MiniLM fine-tuned (est)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54880" y="5623559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875A"/>
                </a:solidFill>
              </a:rPr>
              <a:t>0.70+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5623559"/>
            <a:ext cx="22860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0875A"/>
                </a:solidFill>
              </a:rPr>
              <a:t>0.79+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5623559"/>
            <a:ext cx="2743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100" b="1" i="0">
                <a:solidFill>
                  <a:srgbClr val="0A294A"/>
                </a:solidFill>
              </a:rPr>
              <a:t>~2h  A100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74320" y="6144768"/>
            <a:ext cx="11612880" cy="502920"/>
          </a:xfrm>
          <a:prstGeom prst="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57200" y="6199632"/>
            <a:ext cx="112471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l"/>
            <a:r>
              <a:rPr sz="1000" b="0" i="0">
                <a:solidFill>
                  <a:srgbClr val="E86A10"/>
                </a:solidFill>
              </a:rPr>
              <a:t>Note: Figures above are estimates based on published benchmarks for similar corpora.  Actual improvement depends on triplet quality and corpus size.  Fine-tuning code scaffolding available in scripts/finetune.py (not included in this build).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430000" y="649224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 algn="r"/>
            <a:r>
              <a:rPr sz="900" b="0" i="0">
                <a:solidFill>
                  <a:srgbClr val="55657A"/>
                </a:solidFill>
              </a:rPr>
              <a:t>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