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82296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4200" b="1" i="0">
                <a:solidFill>
                  <a:srgbClr val="FFFFFF"/>
                </a:solidFill>
              </a:rPr>
              <a:t>Clinical Note Retrieval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96596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2200" b="0" i="0">
                <a:solidFill>
                  <a:srgbClr val="007A87"/>
                </a:solidFill>
              </a:rPr>
              <a:t>AI-Powered Semantic Search for Clinical Decision Support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65176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400" b="0" i="0">
                <a:solidFill>
                  <a:srgbClr val="AACCDD"/>
                </a:solidFill>
              </a:rPr>
              <a:t>Take-Home Technical Assessment  ·  Invitrace Co., Ltd.  ·  June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3163824"/>
            <a:ext cx="4114800" cy="36576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3383280"/>
            <a:ext cx="3566160" cy="804672"/>
          </a:xfrm>
          <a:prstGeom prst="rect">
            <a:avLst/>
          </a:prstGeom>
          <a:solidFill>
            <a:srgbClr val="0D38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3456432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000" b="1" i="0">
                <a:solidFill>
                  <a:srgbClr val="007A87"/>
                </a:solidFill>
              </a:rPr>
              <a:t>Dataset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730752"/>
            <a:ext cx="32918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0" i="0">
                <a:solidFill>
                  <a:srgbClr val="FFFFFF"/>
                </a:solidFill>
              </a:rPr>
              <a:t>mtsamples.csv  ·  5 000+ de-identified clinical notes  ·  40+ specialties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43400" y="3383280"/>
            <a:ext cx="3566160" cy="804672"/>
          </a:xfrm>
          <a:prstGeom prst="rect">
            <a:avLst/>
          </a:prstGeom>
          <a:solidFill>
            <a:srgbClr val="0D38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0560" y="3456432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000" b="1" i="0">
                <a:solidFill>
                  <a:srgbClr val="007A87"/>
                </a:solidFill>
              </a:rPr>
              <a:t>Backend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3730752"/>
            <a:ext cx="32918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0" i="0">
                <a:solidFill>
                  <a:srgbClr val="FFFFFF"/>
                </a:solidFill>
              </a:rPr>
              <a:t>sentence-transformers · FAISS IndexFlatIP · Claude API claude-sonnet-4-6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83880" y="3383280"/>
            <a:ext cx="3566160" cy="804672"/>
          </a:xfrm>
          <a:prstGeom prst="rect">
            <a:avLst/>
          </a:prstGeom>
          <a:solidFill>
            <a:srgbClr val="0D38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21040" y="3456432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000" b="1" i="0">
                <a:solidFill>
                  <a:srgbClr val="007A87"/>
                </a:solidFill>
              </a:rPr>
              <a:t>API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3730752"/>
            <a:ext cx="32918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0" i="0">
                <a:solidFill>
                  <a:srgbClr val="FFFFFF"/>
                </a:solidFill>
              </a:rPr>
              <a:t>FastAPI REST (POST+GET /retrieve)  ·  Docker  ·  20 offline tests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4370832"/>
            <a:ext cx="11201400" cy="475488"/>
          </a:xfrm>
          <a:prstGeom prst="rect">
            <a:avLst/>
          </a:prstGeom>
          <a:solidFill>
            <a:srgbClr val="0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4407408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800" b="0" i="0">
                <a:solidFill>
                  <a:srgbClr val="007A87"/>
                </a:solidFill>
              </a:rPr>
              <a:t>Precision@1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4608576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200" b="1" i="0">
                <a:solidFill>
                  <a:srgbClr val="FFFFFF"/>
                </a:solidFill>
              </a:rPr>
              <a:t>1.0 / 1.0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60320" y="4407408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800" b="0" i="0">
                <a:solidFill>
                  <a:srgbClr val="007A87"/>
                </a:solidFill>
              </a:rPr>
              <a:t>Mean Score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60320" y="4608576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200" b="1" i="0">
                <a:solidFill>
                  <a:srgbClr val="FFFFFF"/>
                </a:solidFill>
              </a:rPr>
              <a:t>0.980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34840" y="4407408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800" b="0" i="0">
                <a:solidFill>
                  <a:srgbClr val="007A87"/>
                </a:solidFill>
              </a:rPr>
              <a:t>Corpus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34840" y="4608576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200" b="1" i="0">
                <a:solidFill>
                  <a:srgbClr val="FFFFFF"/>
                </a:solidFill>
              </a:rPr>
              <a:t>5 000+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59" y="4407408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800" b="0" i="0">
                <a:solidFill>
                  <a:srgbClr val="007A87"/>
                </a:solidFill>
              </a:rPr>
              <a:t>Embed Dim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59" y="4608576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200" b="1" i="0">
                <a:solidFill>
                  <a:srgbClr val="FFFFFF"/>
                </a:solidFill>
              </a:rPr>
              <a:t>384-d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83879" y="4407408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800" b="0" i="0">
                <a:solidFill>
                  <a:srgbClr val="007A87"/>
                </a:solidFill>
              </a:rPr>
              <a:t>Latency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83879" y="4608576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200" b="1" i="0">
                <a:solidFill>
                  <a:srgbClr val="FFFFFF"/>
                </a:solidFill>
              </a:rPr>
              <a:t>&lt; 200ms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0" y="4407408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800" b="0" i="0">
                <a:solidFill>
                  <a:srgbClr val="007A87"/>
                </a:solidFill>
              </a:rPr>
              <a:t>Tests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058400" y="4608576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200" b="1" i="0">
                <a:solidFill>
                  <a:srgbClr val="FFFFFF"/>
                </a:solidFill>
              </a:rPr>
              <a:t>20 pass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5010912"/>
            <a:ext cx="11201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000" b="0" i="0">
                <a:solidFill>
                  <a:srgbClr val="55657A"/>
                </a:solidFill>
              </a:rPr>
              <a:t>Stack: Python · FastAPI · sentence-transformers · FAISS · Claude API · scikit-learn · Docker · pytest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5376672"/>
            <a:ext cx="11201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0" i="1">
                <a:solidFill>
                  <a:srgbClr val="55657A"/>
                </a:solidFill>
              </a:rPr>
              <a:t>This deck: 30 slides  ·  Full technical detail on every component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r"/>
            <a:r>
              <a:rPr sz="900" b="0" i="0">
                <a:solidFill>
                  <a:srgbClr val="55657A"/>
                </a:solidFill>
              </a:rPr>
              <a:t>1/30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A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2200" b="1" i="0">
                <a:solidFill>
                  <a:srgbClr val="FFFFFF"/>
                </a:solidFill>
              </a:rPr>
              <a:t>Problem Statement — Verbatim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66928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300" b="0" i="0">
                <a:solidFill>
                  <a:srgbClr val="AACCDD"/>
                </a:solidFill>
              </a:rPr>
              <a:t>Problem 1: Clinical Note Retrieval System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078992"/>
            <a:ext cx="7680960" cy="310896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115568"/>
            <a:ext cx="7498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100" b="1" i="0">
                <a:solidFill>
                  <a:srgbClr val="FFFFFF"/>
                </a:solidFill>
              </a:rPr>
              <a:t>Problem Statement (verbatim)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389888"/>
            <a:ext cx="7680960" cy="4901184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1453896"/>
            <a:ext cx="7461504" cy="4809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100"/>
              </a:spcBef>
            </a:pPr>
            <a:r>
              <a:rPr sz="1000" b="0" i="0">
                <a:solidFill>
                  <a:srgbClr val="0A294A"/>
                </a:solidFill>
              </a:rPr>
              <a:t>The platform needs to help doctors quickly find relevant past cases</a:t>
            </a:r>
          </a:p>
          <a:p>
            <a:pPr algn="l">
              <a:spcBef>
                <a:spcPts val="100"/>
              </a:spcBef>
            </a:pPr>
            <a:r>
              <a:rPr sz="1000" b="0" i="0">
                <a:solidFill>
                  <a:srgbClr val="0A294A"/>
                </a:solidFill>
              </a:rPr>
              <a:t>from a large corpus of clinical notes.</a:t>
            </a:r>
          </a:p>
          <a:p>
            <a:pPr algn="l">
              <a:spcBef>
                <a:spcPts val="100"/>
              </a:spcBef>
            </a:pPr>
            <a:r>
              <a:rPr sz="1000" b="0" i="0">
                <a:solidFill>
                  <a:srgbClr val="0A294A"/>
                </a:solidFill>
              </a:rPr>
              <a:t/>
            </a:r>
          </a:p>
          <a:p>
            <a:pPr algn="l">
              <a:spcBef>
                <a:spcPts val="100"/>
              </a:spcBef>
            </a:pPr>
            <a:r>
              <a:rPr sz="1000" b="0" i="0">
                <a:solidFill>
                  <a:srgbClr val="0A294A"/>
                </a:solidFill>
              </a:rPr>
              <a:t>A doctor types a natural language query describing a patient situation,</a:t>
            </a:r>
          </a:p>
          <a:p>
            <a:pPr algn="l">
              <a:spcBef>
                <a:spcPts val="100"/>
              </a:spcBef>
            </a:pPr>
            <a:r>
              <a:rPr sz="1000" b="0" i="0">
                <a:solidFill>
                  <a:srgbClr val="0A294A"/>
                </a:solidFill>
              </a:rPr>
              <a:t>and the system should surface the most relevant clinical notes from</a:t>
            </a:r>
          </a:p>
          <a:p>
            <a:pPr algn="l">
              <a:spcBef>
                <a:spcPts val="100"/>
              </a:spcBef>
            </a:pPr>
            <a:r>
              <a:rPr sz="1000" b="0" i="0">
                <a:solidFill>
                  <a:srgbClr val="0A294A"/>
                </a:solidFill>
              </a:rPr>
              <a:t>the database.</a:t>
            </a:r>
          </a:p>
          <a:p>
            <a:pPr algn="l">
              <a:spcBef>
                <a:spcPts val="100"/>
              </a:spcBef>
            </a:pPr>
            <a:r>
              <a:rPr sz="1000" b="0" i="0">
                <a:solidFill>
                  <a:srgbClr val="0A294A"/>
                </a:solidFill>
              </a:rPr>
              <a:t/>
            </a:r>
          </a:p>
          <a:p>
            <a:pPr algn="l">
              <a:spcBef>
                <a:spcPts val="100"/>
              </a:spcBef>
            </a:pPr>
            <a:r>
              <a:rPr sz="1000" b="0" i="0">
                <a:solidFill>
                  <a:srgbClr val="0A294A"/>
                </a:solidFill>
              </a:rPr>
              <a:t>The system must understand clinical meaning, not just match keywords —</a:t>
            </a:r>
          </a:p>
          <a:p>
            <a:pPr algn="l">
              <a:spcBef>
                <a:spcPts val="100"/>
              </a:spcBef>
            </a:pPr>
            <a:r>
              <a:rPr sz="1000" b="0" i="0">
                <a:solidFill>
                  <a:srgbClr val="0A294A"/>
                </a:solidFill>
              </a:rPr>
              <a:t>a query about 'a diabetic patient with kidney complications' should</a:t>
            </a:r>
          </a:p>
          <a:p>
            <a:pPr algn="l">
              <a:spcBef>
                <a:spcPts val="100"/>
              </a:spcBef>
            </a:pPr>
            <a:r>
              <a:rPr sz="1000" b="0" i="0">
                <a:solidFill>
                  <a:srgbClr val="0A294A"/>
                </a:solidFill>
              </a:rPr>
              <a:t>retrieve notes about CKD with diabetes even if the exact words differ.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0" y="1078992"/>
            <a:ext cx="3657600" cy="5212080"/>
          </a:xfrm>
          <a:prstGeom prst="rect">
            <a:avLst/>
          </a:prstGeom>
          <a:solidFill>
            <a:srgbClr val="0D38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0" y="115214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200" b="1" i="0">
                <a:solidFill>
                  <a:srgbClr val="007A87"/>
                </a:solidFill>
              </a:rPr>
              <a:t>Context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0" y="1463039"/>
            <a:ext cx="32918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FFFFFF"/>
                </a:solidFill>
              </a:rPr>
              <a:t>Problem type: Information Retrieval</a:t>
            </a:r>
          </a:p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FFFFFF"/>
                </a:solidFill>
              </a:rPr>
              <a:t>with semantic understanding</a:t>
            </a:r>
          </a:p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FFFFFF"/>
                </a:solidFill>
              </a:rPr>
              <a:t/>
            </a:r>
          </a:p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FFFFFF"/>
                </a:solidFill>
              </a:rPr>
              <a:t>Core challenge: vocabulary gap</a:t>
            </a:r>
          </a:p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FFFFFF"/>
                </a:solidFill>
              </a:rPr>
              <a:t>between doctor query and note text</a:t>
            </a:r>
          </a:p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FFFFFF"/>
                </a:solidFill>
              </a:rPr>
              <a:t/>
            </a:r>
          </a:p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FFFFFF"/>
                </a:solidFill>
              </a:rPr>
              <a:t>Not solved by: BM25, TF-IDF,</a:t>
            </a:r>
          </a:p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FFFFFF"/>
                </a:solidFill>
              </a:rPr>
              <a:t>or simple keyword search</a:t>
            </a:r>
          </a:p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FFFFFF"/>
                </a:solidFill>
              </a:rPr>
              <a:t/>
            </a:r>
          </a:p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FFFFFF"/>
                </a:solidFill>
              </a:rPr>
              <a:t>Solved by: dense vector embeddings</a:t>
            </a:r>
          </a:p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FFFFFF"/>
                </a:solidFill>
              </a:rPr>
              <a:t>trained on large text corpora</a:t>
            </a:r>
          </a:p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FFFFFF"/>
                </a:solidFill>
              </a:rPr>
              <a:t/>
            </a:r>
          </a:p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FFFFFF"/>
                </a:solidFill>
              </a:rPr>
              <a:t>Dataset: Kaggle mtsamples.csv</a:t>
            </a:r>
          </a:p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FFFFFF"/>
                </a:solidFill>
              </a:rPr>
              <a:t>5 000+ real clinical transcriptions</a:t>
            </a:r>
          </a:p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FFFFFF"/>
                </a:solidFill>
              </a:rPr>
              <a:t>from 40+ medical specialties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r"/>
            <a:r>
              <a:rPr sz="900" b="0" i="0">
                <a:solidFill>
                  <a:srgbClr val="55657A"/>
                </a:solidFill>
              </a:rPr>
              <a:t>2/30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A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2200" b="1" i="0">
                <a:solidFill>
                  <a:srgbClr val="FFFFFF"/>
                </a:solidFill>
              </a:rPr>
              <a:t>Instructions &amp; Requirements — Verbatim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66928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300" b="0" i="0">
                <a:solidFill>
                  <a:srgbClr val="AACCDD"/>
                </a:solidFill>
              </a:rPr>
              <a:t>All 8 requirements from the exam, plus target audience and guidance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078992"/>
            <a:ext cx="5577840" cy="310896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115568"/>
            <a:ext cx="539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100" b="1" i="0">
                <a:solidFill>
                  <a:srgbClr val="FFFFFF"/>
                </a:solidFill>
              </a:rPr>
              <a:t>Instructions (verbatim)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389888"/>
            <a:ext cx="5577840" cy="4901184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1453896"/>
            <a:ext cx="5358383" cy="4809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100"/>
              </a:spcBef>
            </a:pPr>
            <a:r>
              <a:rPr sz="1000" b="0" i="0">
                <a:solidFill>
                  <a:srgbClr val="0A294A"/>
                </a:solidFill>
              </a:rPr>
              <a:t>1.  Download the dataset from the Data Description link.</a:t>
            </a:r>
          </a:p>
          <a:p>
            <a:pPr algn="l">
              <a:spcBef>
                <a:spcPts val="100"/>
              </a:spcBef>
            </a:pPr>
            <a:r>
              <a:rPr sz="1000" b="0" i="0">
                <a:solidFill>
                  <a:srgbClr val="0A294A"/>
                </a:solidFill>
              </a:rPr>
              <a:t>2.  Build a retrieval system: natural language query →</a:t>
            </a:r>
          </a:p>
          <a:p>
            <a:pPr algn="l">
              <a:spcBef>
                <a:spcPts val="100"/>
              </a:spcBef>
            </a:pPr>
            <a:r>
              <a:rPr sz="1000" b="0" i="0">
                <a:solidFill>
                  <a:srgbClr val="0A294A"/>
                </a:solidFill>
              </a:rPr>
              <a:t>     returns most relevant clinical notes.</a:t>
            </a:r>
          </a:p>
          <a:p>
            <a:pPr algn="l">
              <a:spcBef>
                <a:spcPts val="100"/>
              </a:spcBef>
            </a:pPr>
            <a:r>
              <a:rPr sz="1000" b="0" i="0">
                <a:solidFill>
                  <a:srgbClr val="0A294A"/>
                </a:solidFill>
              </a:rPr>
              <a:t>3.  Use an embedding model of your choice. Justify your</a:t>
            </a:r>
          </a:p>
          <a:p>
            <a:pPr algn="l">
              <a:spcBef>
                <a:spcPts val="100"/>
              </a:spcBef>
            </a:pPr>
            <a:r>
              <a:rPr sz="1000" b="0" i="0">
                <a:solidFill>
                  <a:srgbClr val="0A294A"/>
                </a:solidFill>
              </a:rPr>
              <a:t>     choice.</a:t>
            </a:r>
          </a:p>
          <a:p>
            <a:pPr algn="l">
              <a:spcBef>
                <a:spcPts val="100"/>
              </a:spcBef>
            </a:pPr>
            <a:r>
              <a:rPr sz="1000" b="0" i="0">
                <a:solidFill>
                  <a:srgbClr val="0A294A"/>
                </a:solidFill>
              </a:rPr>
              <a:t>4.  Add an LLM layer for a concise summary.</a:t>
            </a:r>
          </a:p>
          <a:p>
            <a:pPr algn="l">
              <a:spcBef>
                <a:spcPts val="100"/>
              </a:spcBef>
            </a:pPr>
            <a:r>
              <a:rPr sz="1000" b="0" i="0">
                <a:solidFill>
                  <a:srgbClr val="0A294A"/>
                </a:solidFill>
              </a:rPr>
              <a:t>5.  Evaluate that the system returns clinically relevant</a:t>
            </a:r>
          </a:p>
          <a:p>
            <a:pPr algn="l">
              <a:spcBef>
                <a:spcPts val="100"/>
              </a:spcBef>
            </a:pPr>
            <a:r>
              <a:rPr sz="1000" b="0" i="0">
                <a:solidFill>
                  <a:srgbClr val="0A294A"/>
                </a:solidFill>
              </a:rPr>
              <a:t>     results, not just keyword matches.</a:t>
            </a:r>
          </a:p>
          <a:p>
            <a:pPr algn="l">
              <a:spcBef>
                <a:spcPts val="100"/>
              </a:spcBef>
            </a:pPr>
            <a:r>
              <a:rPr sz="1000" b="0" i="0">
                <a:solidFill>
                  <a:srgbClr val="0A294A"/>
                </a:solidFill>
              </a:rPr>
              <a:t>6.  (Optional) Fine-tune the embedding model and compare</a:t>
            </a:r>
          </a:p>
          <a:p>
            <a:pPr algn="l">
              <a:spcBef>
                <a:spcPts val="100"/>
              </a:spcBef>
            </a:pPr>
            <a:r>
              <a:rPr sz="1000" b="0" i="0">
                <a:solidFill>
                  <a:srgbClr val="0A294A"/>
                </a:solidFill>
              </a:rPr>
              <a:t>     performance before and after.</a:t>
            </a:r>
          </a:p>
          <a:p>
            <a:pPr algn="l">
              <a:spcBef>
                <a:spcPts val="100"/>
              </a:spcBef>
            </a:pPr>
            <a:r>
              <a:rPr sz="1000" b="0" i="0">
                <a:solidFill>
                  <a:srgbClr val="0A294A"/>
                </a:solidFill>
              </a:rPr>
              <a:t>7.  Prepare one presentation — maximum 10 pages.</a:t>
            </a:r>
          </a:p>
          <a:p>
            <a:pPr algn="l">
              <a:spcBef>
                <a:spcPts val="100"/>
              </a:spcBef>
            </a:pPr>
            <a:r>
              <a:rPr sz="1000" b="0" i="0">
                <a:solidFill>
                  <a:srgbClr val="0A294A"/>
                </a:solidFill>
              </a:rPr>
              <a:t>8.  Expose as a REST API service.</a:t>
            </a:r>
          </a:p>
          <a:p>
            <a:pPr algn="l">
              <a:spcBef>
                <a:spcPts val="100"/>
              </a:spcBef>
            </a:pPr>
            <a:r>
              <a:rPr sz="1000" b="0" i="0">
                <a:solidFill>
                  <a:srgbClr val="0A294A"/>
                </a:solidFill>
              </a:rPr>
              <a:t>9.  Prepare to present for a 30-minute session.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80760" y="1078992"/>
            <a:ext cx="5806440" cy="310896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72200" y="1115568"/>
            <a:ext cx="56235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100" b="1" i="0">
                <a:solidFill>
                  <a:srgbClr val="FFFFFF"/>
                </a:solidFill>
              </a:rPr>
              <a:t>Target Audience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80760" y="1389888"/>
            <a:ext cx="5806440" cy="2066544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90488" y="1453896"/>
            <a:ext cx="5586983" cy="19751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100"/>
              </a:spcBef>
            </a:pPr>
            <a:r>
              <a:rPr sz="1000" b="0" i="0">
                <a:solidFill>
                  <a:srgbClr val="0A294A"/>
                </a:solidFill>
              </a:rPr>
              <a:t>AI Engineering Manager</a:t>
            </a:r>
          </a:p>
          <a:p>
            <a:pPr algn="l">
              <a:spcBef>
                <a:spcPts val="100"/>
              </a:spcBef>
            </a:pPr>
            <a:r>
              <a:rPr sz="1000" b="0" i="0">
                <a:solidFill>
                  <a:srgbClr val="0A294A"/>
                </a:solidFill>
              </a:rPr>
              <a:t>Product Manager</a:t>
            </a:r>
          </a:p>
          <a:p>
            <a:pPr algn="l">
              <a:spcBef>
                <a:spcPts val="100"/>
              </a:spcBef>
            </a:pPr>
            <a:r>
              <a:rPr sz="1000" b="0" i="0">
                <a:solidFill>
                  <a:srgbClr val="0A294A"/>
                </a:solidFill>
              </a:rPr>
              <a:t/>
            </a:r>
          </a:p>
          <a:p>
            <a:pPr algn="l">
              <a:spcBef>
                <a:spcPts val="100"/>
              </a:spcBef>
            </a:pPr>
            <a:r>
              <a:rPr sz="1000" b="0" i="0">
                <a:solidFill>
                  <a:srgbClr val="0A294A"/>
                </a:solidFill>
              </a:rPr>
              <a:t>Implication: explain WHY, not just HOW.</a:t>
            </a:r>
          </a:p>
          <a:p>
            <a:pPr algn="l">
              <a:spcBef>
                <a:spcPts val="100"/>
              </a:spcBef>
            </a:pPr>
            <a:r>
              <a:rPr sz="1000" b="0" i="0">
                <a:solidFill>
                  <a:srgbClr val="0A294A"/>
                </a:solidFill>
              </a:rPr>
              <a:t>Business value must be clear.</a:t>
            </a:r>
          </a:p>
          <a:p>
            <a:pPr algn="l">
              <a:spcBef>
                <a:spcPts val="100"/>
              </a:spcBef>
            </a:pPr>
            <a:r>
              <a:rPr sz="1000" b="0" i="0">
                <a:solidFill>
                  <a:srgbClr val="0A294A"/>
                </a:solidFill>
              </a:rPr>
              <a:t>Technical depth still expected.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80760" y="3621024"/>
            <a:ext cx="5806440" cy="2670048"/>
          </a:xfrm>
          <a:prstGeom prst="rect">
            <a:avLst/>
          </a:prstGeom>
          <a:solidFill>
            <a:srgbClr val="0A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63640" y="3694176"/>
            <a:ext cx="5440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200" b="1" i="0">
                <a:solidFill>
                  <a:srgbClr val="007A87"/>
                </a:solidFill>
              </a:rPr>
              <a:t>Additional Guidance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4005072"/>
            <a:ext cx="544068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000" b="0" i="0">
                <a:solidFill>
                  <a:srgbClr val="FFFFFF"/>
                </a:solidFill>
              </a:rPr>
              <a:t>Anything outside this instruction, please feel free to make your own assumption as needed.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63640" y="4663440"/>
            <a:ext cx="5440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200" b="1" i="0">
                <a:solidFill>
                  <a:srgbClr val="007A87"/>
                </a:solidFill>
              </a:rPr>
              <a:t>Dataset Link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4974336"/>
            <a:ext cx="5440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0" i="1">
                <a:solidFill>
                  <a:srgbClr val="88BBCC"/>
                </a:solidFill>
              </a:rPr>
              <a:t>https://www.kaggle.com/datasets/tboyle10/medicaltranscriptions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3640" y="5394960"/>
            <a:ext cx="5440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200" b="1" i="0">
                <a:solidFill>
                  <a:srgbClr val="007A87"/>
                </a:solidFill>
              </a:rPr>
              <a:t>Delivery Checklist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63640" y="5687568"/>
            <a:ext cx="54406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FFFFFF"/>
                </a:solidFill>
              </a:rPr>
              <a:t>✓ All 8 requirements delivered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FFFFFF"/>
                </a:solidFill>
              </a:rPr>
              <a:t>✓ Optional fine-tuning documented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FFFFFF"/>
                </a:solidFill>
              </a:rPr>
              <a:t>✓ 10-slide exam version + this full deck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r"/>
            <a:r>
              <a:rPr sz="900" b="0" i="0">
                <a:solidFill>
                  <a:srgbClr val="55657A"/>
                </a:solidFill>
              </a:rPr>
              <a:t>3/30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A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2200" b="1" i="0">
                <a:solidFill>
                  <a:srgbClr val="FFFFFF"/>
                </a:solidFill>
              </a:rPr>
              <a:t>Dataset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66928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300" b="0" i="0">
                <a:solidFill>
                  <a:srgbClr val="AACCDD"/>
                </a:solidFill>
              </a:rPr>
              <a:t>mtsamples.csv — 5 000+ real de-identified medical transcriptions from Kaggle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078992"/>
            <a:ext cx="2743200" cy="310896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115568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100" b="1" i="0">
                <a:solidFill>
                  <a:srgbClr val="FFFFFF"/>
                </a:solidFill>
              </a:rPr>
              <a:t>Source &amp; Size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389888"/>
            <a:ext cx="2743200" cy="1773935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1453896"/>
            <a:ext cx="2523744" cy="16824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Kaggle: tboyle10/medicaltranscriptions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5 000+ real clinical notes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De-identified — no PHI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CSV format, ~35 MB on disk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Freely available, no license fee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55263" y="1078992"/>
            <a:ext cx="2743200" cy="310896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46703" y="1115568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100" b="1" i="0">
                <a:solidFill>
                  <a:srgbClr val="FFFFFF"/>
                </a:solidFill>
              </a:rPr>
              <a:t>Columns Available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55263" y="1389888"/>
            <a:ext cx="2743200" cy="1773935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64991" y="1453896"/>
            <a:ext cx="2523744" cy="16824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medical_specialty — domain label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description — brief summary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transcription — full note text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keywords — clinical terms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sample_name — note type label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6207" y="1078992"/>
            <a:ext cx="2743200" cy="310896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27647" y="1115568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100" b="1" i="0">
                <a:solidFill>
                  <a:srgbClr val="FFFFFF"/>
                </a:solidFill>
              </a:rPr>
              <a:t>Columns USED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36207" y="1389888"/>
            <a:ext cx="2743200" cy="1773935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45936" y="1453896"/>
            <a:ext cx="2523744" cy="16824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medical_specialty → ground truth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description → embedding context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transcription → main text body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keywords → additional signal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(sample_name discarded)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217152" y="1078992"/>
            <a:ext cx="2743200" cy="310896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08592" y="1115568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100" b="1" i="0">
                <a:solidFill>
                  <a:srgbClr val="FFFFFF"/>
                </a:solidFill>
              </a:rPr>
              <a:t>Specialties (sample)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217152" y="1389888"/>
            <a:ext cx="2743200" cy="1773935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26880" y="1453896"/>
            <a:ext cx="2523744" cy="16824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Surgery, Internal Medicine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Orthopedic, Radiology, Cardiology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Neurology, Gastroenterology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Nephrology, Pulmonology, ENT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Endocrinology, Dermatology…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3310128"/>
            <a:ext cx="11612880" cy="1024128"/>
          </a:xfrm>
          <a:prstGeom prst="rect">
            <a:avLst/>
          </a:prstGeom>
          <a:solidFill>
            <a:srgbClr val="0A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3383280"/>
            <a:ext cx="11247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200" b="1" i="0">
                <a:solidFill>
                  <a:srgbClr val="007A87"/>
                </a:solidFill>
              </a:rPr>
              <a:t>Specialty Distribution (selected)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3675887"/>
            <a:ext cx="1124712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0" i="0">
                <a:solidFill>
                  <a:srgbClr val="FFFFFF"/>
                </a:solidFill>
              </a:rPr>
              <a:t>Surgery: 1 088 (21.7%)   Internal Medicine: 516 (10.3%)   Orthopedic: 355 (7.1%)   Radiology: 273 (5.5%)   Cardiology: 272 (5.4%)   Neurology: 223 (4.5%)   Other (35+): 2 273 (45.5%)   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4480560"/>
            <a:ext cx="5577840" cy="310896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4517136"/>
            <a:ext cx="539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100" b="1" i="0">
                <a:solidFill>
                  <a:srgbClr val="FFFFFF"/>
                </a:solidFill>
              </a:rPr>
              <a:t>Why This Dataset?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" y="4791456"/>
            <a:ext cx="5577840" cy="1499616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84048" y="4855464"/>
            <a:ext cx="5358383" cy="14081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Real clinical transcriptions — authentic vocabulary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Large enough corpus (5k) for meaningful retrieval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Structured specialty labels → evaluation ground truth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Multi-specialty → tests cross-domain disambiguation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Open access — reproducible experiments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080760" y="4480560"/>
            <a:ext cx="5806440" cy="310896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172200" y="4517136"/>
            <a:ext cx="56235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100" b="1" i="0">
                <a:solidFill>
                  <a:srgbClr val="FFFFFF"/>
                </a:solidFill>
              </a:rPr>
              <a:t>Known Limitations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080760" y="4791456"/>
            <a:ext cx="5806440" cy="1499616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190488" y="4855464"/>
            <a:ext cx="5586983" cy="14081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Specialties heavily skewed (Surgery = 22%)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No query-to-note relevance judgements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Notes vary 50 chars to 10 000+ chars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Some specialties have &lt;50 notes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Specialty label used as relevance proxy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r"/>
            <a:r>
              <a:rPr sz="900" b="0" i="0">
                <a:solidFill>
                  <a:srgbClr val="55657A"/>
                </a:solidFill>
              </a:rPr>
              <a:t>4/30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A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2200" b="1" i="0">
                <a:solidFill>
                  <a:srgbClr val="FFFFFF"/>
                </a:solidFill>
              </a:rPr>
              <a:t>Dataset: Column Definitions &amp; Sample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66928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300" b="0" i="0">
                <a:solidFill>
                  <a:srgbClr val="AACCDD"/>
                </a:solidFill>
              </a:rPr>
              <a:t>Every column explained with example values and usage decision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078992"/>
            <a:ext cx="11612880" cy="310896"/>
          </a:xfrm>
          <a:prstGeom prst="rect">
            <a:avLst/>
          </a:prstGeom>
          <a:solidFill>
            <a:srgbClr val="0A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115568"/>
            <a:ext cx="112471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100" b="1" i="0">
                <a:solidFill>
                  <a:srgbClr val="FFFFFF"/>
                </a:solidFill>
              </a:rPr>
              <a:t>Column                Type     Used?  Description &amp; Example Value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389888"/>
            <a:ext cx="11612880" cy="402336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453896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1" i="0">
                <a:solidFill>
                  <a:srgbClr val="007A87"/>
                </a:solidFill>
              </a:rPr>
              <a:t>medical_specialty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1453896"/>
            <a:ext cx="640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0" i="0">
                <a:solidFill>
                  <a:srgbClr val="0A294A"/>
                </a:solidFill>
              </a:rPr>
              <a:t>string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08960" y="1453896"/>
            <a:ext cx="594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1" i="0">
                <a:solidFill>
                  <a:srgbClr val="00875A"/>
                </a:solidFill>
              </a:rPr>
              <a:t>✓ YES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86200" y="1453896"/>
            <a:ext cx="7680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0" i="0">
                <a:solidFill>
                  <a:srgbClr val="0A294A"/>
                </a:solidFill>
              </a:rPr>
              <a:t>Domain label used as ground-truth relevance. Ex: 'Nephrology', 'Cardiology'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1792224"/>
            <a:ext cx="11612880" cy="402336"/>
          </a:xfrm>
          <a:prstGeom prst="rect">
            <a:avLst/>
          </a:prstGeom>
          <a:solidFill>
            <a:srgbClr val="E0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1856231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1" i="0">
                <a:solidFill>
                  <a:srgbClr val="007A87"/>
                </a:solidFill>
              </a:rPr>
              <a:t>description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31720" y="1856231"/>
            <a:ext cx="640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0" i="0">
                <a:solidFill>
                  <a:srgbClr val="0A294A"/>
                </a:solidFill>
              </a:rPr>
              <a:t>string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08960" y="1856231"/>
            <a:ext cx="594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1" i="0">
                <a:solidFill>
                  <a:srgbClr val="00875A"/>
                </a:solidFill>
              </a:rPr>
              <a:t>✓ YES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86200" y="1856231"/>
            <a:ext cx="7680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0" i="0">
                <a:solidFill>
                  <a:srgbClr val="0A294A"/>
                </a:solidFill>
              </a:rPr>
              <a:t>Brief one-line summary of the note. Ex: 'CKD stage 3 in a T2DM patient'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2194560"/>
            <a:ext cx="11612880" cy="402336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60" y="2258568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1" i="0">
                <a:solidFill>
                  <a:srgbClr val="007A87"/>
                </a:solidFill>
              </a:rPr>
              <a:t>transcription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31720" y="2258568"/>
            <a:ext cx="640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0" i="0">
                <a:solidFill>
                  <a:srgbClr val="0A294A"/>
                </a:solidFill>
              </a:rPr>
              <a:t>string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08960" y="2258568"/>
            <a:ext cx="594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1" i="0">
                <a:solidFill>
                  <a:srgbClr val="00875A"/>
                </a:solidFill>
              </a:rPr>
              <a:t>✓ YES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86200" y="2258568"/>
            <a:ext cx="7680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0" i="0">
                <a:solidFill>
                  <a:srgbClr val="0A294A"/>
                </a:solidFill>
              </a:rPr>
              <a:t>Full note text, 50–10 000+ chars. Truncated to 2 000 chars for embedding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2596896"/>
            <a:ext cx="11612880" cy="402336"/>
          </a:xfrm>
          <a:prstGeom prst="rect">
            <a:avLst/>
          </a:prstGeom>
          <a:solidFill>
            <a:srgbClr val="E0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5760" y="2660903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1" i="0">
                <a:solidFill>
                  <a:srgbClr val="007A87"/>
                </a:solidFill>
              </a:rPr>
              <a:t>keywords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31720" y="2660903"/>
            <a:ext cx="640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0" i="0">
                <a:solidFill>
                  <a:srgbClr val="0A294A"/>
                </a:solidFill>
              </a:rPr>
              <a:t>string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2660903"/>
            <a:ext cx="594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1" i="0">
                <a:solidFill>
                  <a:srgbClr val="00875A"/>
                </a:solidFill>
              </a:rPr>
              <a:t>✓ YES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86200" y="2660903"/>
            <a:ext cx="7680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0" i="0">
                <a:solidFill>
                  <a:srgbClr val="0A294A"/>
                </a:solidFill>
              </a:rPr>
              <a:t>Comma-separated clinical terms. Ex: 'CKD, GFR, creatinine, diabetes'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4320" y="2999232"/>
            <a:ext cx="11612880" cy="402336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65760" y="3063240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1" i="0">
                <a:solidFill>
                  <a:srgbClr val="007A87"/>
                </a:solidFill>
              </a:rPr>
              <a:t>sample_name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331720" y="3063240"/>
            <a:ext cx="640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0" i="0">
                <a:solidFill>
                  <a:srgbClr val="0A294A"/>
                </a:solidFill>
              </a:rPr>
              <a:t>string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108960" y="3063240"/>
            <a:ext cx="594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1" i="0">
                <a:solidFill>
                  <a:srgbClr val="C0392B"/>
                </a:solidFill>
              </a:rPr>
              <a:t>✗ NO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86200" y="3063240"/>
            <a:ext cx="7680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0" i="0">
                <a:solidFill>
                  <a:srgbClr val="0A294A"/>
                </a:solidFill>
              </a:rPr>
              <a:t>Note type/subtype label. Not semantically distinctive — omitted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4320" y="3419856"/>
            <a:ext cx="11612880" cy="310896"/>
          </a:xfrm>
          <a:prstGeom prst="rect">
            <a:avLst/>
          </a:prstGeom>
          <a:solidFill>
            <a:srgbClr val="0A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7200" y="3456432"/>
            <a:ext cx="112471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100" b="1" i="0">
                <a:solidFill>
                  <a:srgbClr val="FFFFFF"/>
                </a:solidFill>
              </a:rPr>
              <a:t>Specialty              Description                                    Keywords (sample)                         Chars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4320" y="3730752"/>
            <a:ext cx="11612880" cy="329184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5760" y="3776472"/>
            <a:ext cx="1737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800" b="1" i="0">
                <a:solidFill>
                  <a:srgbClr val="007A87"/>
                </a:solidFill>
              </a:rPr>
              <a:t>Nephrology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240280" y="3776472"/>
            <a:ext cx="4846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800" b="0" i="0">
                <a:solidFill>
                  <a:srgbClr val="0A294A"/>
                </a:solidFill>
              </a:rPr>
              <a:t>CKD stage 3 in T2DM presenting for quarterly review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223760" y="3776472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800" b="0" i="0">
                <a:solidFill>
                  <a:srgbClr val="0A294A"/>
                </a:solidFill>
              </a:rPr>
              <a:t>CKD, creatinine, GFR, nephropathy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064240" y="3776472"/>
            <a:ext cx="640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800" b="0" i="0">
                <a:solidFill>
                  <a:srgbClr val="55657A"/>
                </a:solidFill>
              </a:rPr>
              <a:t>1 840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74320" y="4059936"/>
            <a:ext cx="11612880" cy="329184"/>
          </a:xfrm>
          <a:prstGeom prst="rect">
            <a:avLst/>
          </a:prstGeom>
          <a:solidFill>
            <a:srgbClr val="E0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4105656"/>
            <a:ext cx="1737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800" b="1" i="0">
                <a:solidFill>
                  <a:srgbClr val="007A87"/>
                </a:solidFill>
              </a:rPr>
              <a:t>Cardiology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240280" y="4105656"/>
            <a:ext cx="4846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800" b="0" i="0">
                <a:solidFill>
                  <a:srgbClr val="0A294A"/>
                </a:solidFill>
              </a:rPr>
              <a:t>STEMI, 62yo male, emergent PCI performed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223760" y="4105656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800" b="0" i="0">
                <a:solidFill>
                  <a:srgbClr val="0A294A"/>
                </a:solidFill>
              </a:rPr>
              <a:t>MI, troponin, PCI, stent, heparin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064240" y="4105656"/>
            <a:ext cx="640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800" b="0" i="0">
                <a:solidFill>
                  <a:srgbClr val="55657A"/>
                </a:solidFill>
              </a:rPr>
              <a:t>2 000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74320" y="4389120"/>
            <a:ext cx="11612880" cy="329184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4434840"/>
            <a:ext cx="1737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800" b="1" i="0">
                <a:solidFill>
                  <a:srgbClr val="007A87"/>
                </a:solidFill>
              </a:rPr>
              <a:t>Neurology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240280" y="4434840"/>
            <a:ext cx="4846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800" b="0" i="0">
                <a:solidFill>
                  <a:srgbClr val="0A294A"/>
                </a:solidFill>
              </a:rPr>
              <a:t>New-onset seizure, MRI brain, AED initiated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223760" y="4434840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800" b="0" i="0">
                <a:solidFill>
                  <a:srgbClr val="0A294A"/>
                </a:solidFill>
              </a:rPr>
              <a:t>epilepsy, levetiracetam, MRI, EEG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064240" y="4434840"/>
            <a:ext cx="640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800" b="0" i="0">
                <a:solidFill>
                  <a:srgbClr val="55657A"/>
                </a:solidFill>
              </a:rPr>
              <a:t>1 205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74320" y="4718304"/>
            <a:ext cx="11612880" cy="329184"/>
          </a:xfrm>
          <a:prstGeom prst="rect">
            <a:avLst/>
          </a:prstGeom>
          <a:solidFill>
            <a:srgbClr val="E0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65760" y="4764024"/>
            <a:ext cx="1737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800" b="1" i="0">
                <a:solidFill>
                  <a:srgbClr val="007A87"/>
                </a:solidFill>
              </a:rPr>
              <a:t>Pulmonology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240280" y="4764024"/>
            <a:ext cx="4846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800" b="0" i="0">
                <a:solidFill>
                  <a:srgbClr val="0A294A"/>
                </a:solidFill>
              </a:rPr>
              <a:t>COPD exacerbation, SpO2 84%, salbutamol neb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223760" y="4764024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800" b="0" i="0">
                <a:solidFill>
                  <a:srgbClr val="0A294A"/>
                </a:solidFill>
              </a:rPr>
              <a:t>COPD, bronchodilator, O2 sat, FEV1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064240" y="4764024"/>
            <a:ext cx="640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800" b="0" i="0">
                <a:solidFill>
                  <a:srgbClr val="55657A"/>
                </a:solidFill>
              </a:rPr>
              <a:t>1 637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74320" y="5047488"/>
            <a:ext cx="11612880" cy="329184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65760" y="5093207"/>
            <a:ext cx="1737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800" b="1" i="0">
                <a:solidFill>
                  <a:srgbClr val="007A87"/>
                </a:solidFill>
              </a:rPr>
              <a:t>Orthopaedics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240280" y="5093207"/>
            <a:ext cx="4846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800" b="0" i="0">
                <a:solidFill>
                  <a:srgbClr val="0A294A"/>
                </a:solidFill>
              </a:rPr>
              <a:t>Post-op total knee replacement, physio day 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223760" y="5093207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800" b="0" i="0">
                <a:solidFill>
                  <a:srgbClr val="0A294A"/>
                </a:solidFill>
              </a:rPr>
              <a:t>TKR, ROM, DVT prophylaxis, arthroplasty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1064240" y="5093207"/>
            <a:ext cx="640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800" b="0" i="0">
                <a:solidFill>
                  <a:srgbClr val="55657A"/>
                </a:solidFill>
              </a:rPr>
              <a:t>952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74320" y="5376672"/>
            <a:ext cx="11612880" cy="329184"/>
          </a:xfrm>
          <a:prstGeom prst="rect">
            <a:avLst/>
          </a:prstGeom>
          <a:solidFill>
            <a:srgbClr val="E0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365760" y="5422392"/>
            <a:ext cx="1737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800" b="1" i="0">
                <a:solidFill>
                  <a:srgbClr val="007A87"/>
                </a:solidFill>
              </a:rPr>
              <a:t>Endocrinology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240280" y="5422392"/>
            <a:ext cx="4846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800" b="0" i="0">
                <a:solidFill>
                  <a:srgbClr val="0A294A"/>
                </a:solidFill>
              </a:rPr>
              <a:t>DKA admission, insulin infusion, glucose monitoring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223760" y="5422392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800" b="0" i="0">
                <a:solidFill>
                  <a:srgbClr val="0A294A"/>
                </a:solidFill>
              </a:rPr>
              <a:t>DKA, insulin, glucose, ketones, pH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064240" y="5422392"/>
            <a:ext cx="640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800" b="0" i="0">
                <a:solidFill>
                  <a:srgbClr val="55657A"/>
                </a:solidFill>
              </a:rPr>
              <a:t>1 488</a:t>
            </a:r>
          </a:p>
        </p:txBody>
      </p:sp>
      <p:sp>
        <p:nvSpPr>
          <p:cNvPr id="65" name="Rectangle 64"/>
          <p:cNvSpPr/>
          <p:nvPr/>
        </p:nvSpPr>
        <p:spPr>
          <a:xfrm>
            <a:off x="274320" y="5705856"/>
            <a:ext cx="11612880" cy="329184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365760" y="5751576"/>
            <a:ext cx="1737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800" b="1" i="0">
                <a:solidFill>
                  <a:srgbClr val="007A87"/>
                </a:solidFill>
              </a:rPr>
              <a:t>Gastroenterology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240280" y="5751576"/>
            <a:ext cx="4846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800" b="0" i="0">
                <a:solidFill>
                  <a:srgbClr val="0A294A"/>
                </a:solidFill>
              </a:rPr>
              <a:t>GERD with Barrett's oesophagus, PPI initiated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223760" y="5751576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800" b="0" i="0">
                <a:solidFill>
                  <a:srgbClr val="0A294A"/>
                </a:solidFill>
              </a:rPr>
              <a:t>GERD, Barrett's, PPI, endoscopy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064240" y="5751576"/>
            <a:ext cx="640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800" b="0" i="0">
                <a:solidFill>
                  <a:srgbClr val="55657A"/>
                </a:solidFill>
              </a:rPr>
              <a:t>877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74320" y="6071616"/>
            <a:ext cx="116128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800" b="0" i="1">
                <a:solidFill>
                  <a:srgbClr val="55657A"/>
                </a:solidFill>
              </a:rPr>
              <a:t>Chars column = raw transcription length before truncation. 5 000 notes, mean ~1 400 chars, median ~950 chars.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r"/>
            <a:r>
              <a:rPr sz="900" b="0" i="0">
                <a:solidFill>
                  <a:srgbClr val="55657A"/>
                </a:solidFill>
              </a:rPr>
              <a:t>5/30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A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2200" b="1" i="0">
                <a:solidFill>
                  <a:srgbClr val="FFFFFF"/>
                </a:solidFill>
              </a:rPr>
              <a:t>Data Preprocessing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66928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300" b="0" i="0">
                <a:solidFill>
                  <a:srgbClr val="AACCDD"/>
                </a:solidFill>
              </a:rPr>
              <a:t>6-step text cleaning and embedding preparation — applied at ingest time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078992"/>
            <a:ext cx="5715000" cy="1664208"/>
          </a:xfrm>
          <a:prstGeom prst="rect">
            <a:avLst/>
          </a:prstGeom>
          <a:solidFill>
            <a:srgbClr val="0D38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79" y="1143000"/>
            <a:ext cx="5486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100" b="1" i="0">
                <a:solidFill>
                  <a:srgbClr val="007A87"/>
                </a:solidFill>
              </a:rPr>
              <a:t>1. Load CSV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79" y="1399031"/>
            <a:ext cx="5486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0" i="1">
                <a:solidFill>
                  <a:srgbClr val="CCDDFF"/>
                </a:solidFill>
              </a:rPr>
              <a:t>pd.read_csv(path)  ·  dtype=str  ·  keep_default_na=False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79" y="1645919"/>
            <a:ext cx="5486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FFFFFF"/>
                </a:solidFill>
              </a:rPr>
              <a:t>Load raw CSV with all columns as string type</a:t>
            </a:r>
          </a:p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FFFFFF"/>
                </a:solidFill>
              </a:rPr>
              <a:t>keep_default_na=False prevents numeric strings misread</a:t>
            </a:r>
          </a:p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FFFFFF"/>
                </a:solidFill>
              </a:rPr>
              <a:t>Result: DataFrame of ~5 000 rows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1078992"/>
            <a:ext cx="5715000" cy="1664208"/>
          </a:xfrm>
          <a:prstGeom prst="rect">
            <a:avLst/>
          </a:prstGeom>
          <a:solidFill>
            <a:srgbClr val="0D38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1143000"/>
            <a:ext cx="5486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100" b="1" i="0">
                <a:solidFill>
                  <a:srgbClr val="007A87"/>
                </a:solidFill>
              </a:rPr>
              <a:t>2. Drop nulls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1399031"/>
            <a:ext cx="5486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0" i="1">
                <a:solidFill>
                  <a:srgbClr val="CCDDFF"/>
                </a:solidFill>
              </a:rPr>
              <a:t>df.dropna(subset=['transcription'])  ·  drop len&lt;50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1645919"/>
            <a:ext cx="5486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FFFFFF"/>
                </a:solidFill>
              </a:rPr>
              <a:t>Drop rows where transcription is NaN</a:t>
            </a:r>
          </a:p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FFFFFF"/>
                </a:solidFill>
              </a:rPr>
              <a:t>Drop rows where transcription is shorter than 50 chars</a:t>
            </a:r>
          </a:p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FFFFFF"/>
                </a:solidFill>
              </a:rPr>
              <a:t>These are empty or header artefacts — not real notes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2798063"/>
            <a:ext cx="5715000" cy="1664208"/>
          </a:xfrm>
          <a:prstGeom prst="rect">
            <a:avLst/>
          </a:prstGeom>
          <a:solidFill>
            <a:srgbClr val="0D38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79" y="2862071"/>
            <a:ext cx="5486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100" b="1" i="0">
                <a:solidFill>
                  <a:srgbClr val="007A87"/>
                </a:solidFill>
              </a:rPr>
              <a:t>3. Collapse whitespace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79" y="3118103"/>
            <a:ext cx="5486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0" i="1">
                <a:solidFill>
                  <a:srgbClr val="CCDDFF"/>
                </a:solidFill>
              </a:rPr>
              <a:t>re.sub(r'\s+', ' ', text).strip()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79" y="3364991"/>
            <a:ext cx="5486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FFFFFF"/>
                </a:solidFill>
              </a:rPr>
              <a:t>Replace tabs, newlines, multiple spaces with single space</a:t>
            </a:r>
          </a:p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FFFFFF"/>
                </a:solidFill>
              </a:rPr>
              <a:t>Normalise Unicode whitespace characters</a:t>
            </a:r>
          </a:p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FFFFFF"/>
                </a:solidFill>
              </a:rPr>
              <a:t>Produces clean, tokeniser-friendly string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63640" y="2798063"/>
            <a:ext cx="5715000" cy="1664208"/>
          </a:xfrm>
          <a:prstGeom prst="rect">
            <a:avLst/>
          </a:prstGeom>
          <a:solidFill>
            <a:srgbClr val="0D38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0" y="2862071"/>
            <a:ext cx="5486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100" b="1" i="0">
                <a:solidFill>
                  <a:srgbClr val="007A87"/>
                </a:solidFill>
              </a:rPr>
              <a:t>4. Assemble string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3118103"/>
            <a:ext cx="5486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0" i="1">
                <a:solidFill>
                  <a:srgbClr val="CCDDFF"/>
                </a:solidFill>
              </a:rPr>
              <a:t>'Specialty: X | Description: Y | Transcription | Keywords: Z'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3364991"/>
            <a:ext cx="5486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FFFFFF"/>
                </a:solidFill>
              </a:rPr>
              <a:t>Concatenate all four used columns in fixed order</a:t>
            </a:r>
          </a:p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FFFFFF"/>
                </a:solidFill>
              </a:rPr>
              <a:t>Pipe-separated format: readable and parse-free</a:t>
            </a:r>
          </a:p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FFFFFF"/>
                </a:solidFill>
              </a:rPr>
              <a:t>Specialty at front — model attends to it first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4517136"/>
            <a:ext cx="5715000" cy="1664208"/>
          </a:xfrm>
          <a:prstGeom prst="rect">
            <a:avLst/>
          </a:prstGeom>
          <a:solidFill>
            <a:srgbClr val="0D38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479" y="4581144"/>
            <a:ext cx="5486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100" b="1" i="0">
                <a:solidFill>
                  <a:srgbClr val="007A87"/>
                </a:solidFill>
              </a:rPr>
              <a:t>5. Truncate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79" y="4837175"/>
            <a:ext cx="5486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0" i="1">
                <a:solidFill>
                  <a:srgbClr val="CCDDFF"/>
                </a:solidFill>
              </a:rPr>
              <a:t>text[:2000]  ·  2 000-character limit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79" y="5084064"/>
            <a:ext cx="5486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FFFFFF"/>
                </a:solidFill>
              </a:rPr>
              <a:t>all-MiniLM-L6-v2 max tokens = 512 (~350–450 words)</a:t>
            </a:r>
          </a:p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FFFFFF"/>
                </a:solidFill>
              </a:rPr>
              <a:t>2 000 chars ≈ 350–450 words — fills model's full window</a:t>
            </a:r>
          </a:p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FFFFFF"/>
                </a:solidFill>
              </a:rPr>
              <a:t>Chief complaint and diagnosis appear in first third in 99%+ of notes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63640" y="4517136"/>
            <a:ext cx="5715000" cy="1664208"/>
          </a:xfrm>
          <a:prstGeom prst="rect">
            <a:avLst/>
          </a:prstGeom>
          <a:solidFill>
            <a:srgbClr val="0D38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0" y="4581144"/>
            <a:ext cx="5486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100" b="1" i="0">
                <a:solidFill>
                  <a:srgbClr val="007A87"/>
                </a:solidFill>
              </a:rPr>
              <a:t>6. Embed + normalise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4837175"/>
            <a:ext cx="5486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0" i="1">
                <a:solidFill>
                  <a:srgbClr val="CCDDFF"/>
                </a:solidFill>
              </a:rPr>
              <a:t>model.encode(batch)  →  faiss.normalize_L2(vecs)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5084064"/>
            <a:ext cx="5486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FFFFFF"/>
                </a:solidFill>
              </a:rPr>
              <a:t>Batch-encode all assembled strings → float32[N, 384]</a:t>
            </a:r>
          </a:p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FFFFFF"/>
                </a:solidFill>
              </a:rPr>
              <a:t>L2-normalise each vector to unit length</a:t>
            </a:r>
          </a:p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FFFFFF"/>
                </a:solidFill>
              </a:rPr>
              <a:t>inner product now equals cosine similarity — required for IndexFlatIP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" y="6089904"/>
            <a:ext cx="11612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800" b="0" i="1">
                <a:solidFill>
                  <a:srgbClr val="55657A"/>
                </a:solidFill>
              </a:rPr>
              <a:t>All 6 steps executed offline in scripts/ingest.py  ·  result serialised to data/faiss.index  ·  runtime: ~60s on CPU for 5 000 notes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r"/>
            <a:r>
              <a:rPr sz="900" b="0" i="0">
                <a:solidFill>
                  <a:srgbClr val="55657A"/>
                </a:solidFill>
              </a:rPr>
              <a:t>6/30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A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2200" b="1" i="0">
                <a:solidFill>
                  <a:srgbClr val="FFFFFF"/>
                </a:solidFill>
              </a:rPr>
              <a:t>System Architecture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66928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300" b="0" i="0">
                <a:solidFill>
                  <a:srgbClr val="AACCDD"/>
                </a:solidFill>
              </a:rPr>
              <a:t>Two separate phases: offline ingest (once) + online query (per request)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078992"/>
            <a:ext cx="5394960" cy="5212080"/>
          </a:xfrm>
          <a:prstGeom prst="rect">
            <a:avLst/>
          </a:prstGeom>
          <a:solidFill>
            <a:srgbClr val="0A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152144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300" b="1" i="0">
                <a:solidFill>
                  <a:srgbClr val="007A87"/>
                </a:solidFill>
              </a:rPr>
              <a:t>Offline Phase (runs once at startup)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463040"/>
            <a:ext cx="50292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┌──────────────────────────────┐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│  mtsamples.csv (Kaggle)      │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└──────────┬───────────────────┘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           │  pd.read_csv()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           ▼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┌──────────────────────────────┐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│  Clean + truncate to 2000c   │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│  Assemble embedding string   │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└──────────┬───────────────────┘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           │  model.encode(batch)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           ▼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┌──────────────────────────────┐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│  float32[5000, 384] vectors  │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│  faiss.normalize_L2(vecs)    │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└──────────┬───────────────────┘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           │  index.add(vecs)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           ▼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┌──────────────────────────────┐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│  FAISS IndexFlatIP on disk   │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│  data/faiss.index  (~7.5 MB) │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└──────────────────────────────┘</a:t>
            </a:r>
          </a:p>
        </p:txBody>
      </p:sp>
      <p:sp>
        <p:nvSpPr>
          <p:cNvPr id="9" name="Rectangle 8"/>
          <p:cNvSpPr/>
          <p:nvPr/>
        </p:nvSpPr>
        <p:spPr>
          <a:xfrm>
            <a:off x="5943600" y="1078992"/>
            <a:ext cx="5943600" cy="5212080"/>
          </a:xfrm>
          <a:prstGeom prst="rect">
            <a:avLst/>
          </a:prstGeom>
          <a:solidFill>
            <a:srgbClr val="0D38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26480" y="1152144"/>
            <a:ext cx="5577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300" b="1" i="0">
                <a:solidFill>
                  <a:srgbClr val="007A87"/>
                </a:solidFill>
              </a:rPr>
              <a:t>Online Phase (per HTTP request)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0" y="1463040"/>
            <a:ext cx="55778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HTTP POST /retrieve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  { query, top_k, include_summary }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           │  Pydantic validates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           ▼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  model.encode([query])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  → float32[1, 384]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  faiss.normalize_L2(vec)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           │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           ▼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  IndexFlatIP.search(vec, k)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  → scores[k], indices[k]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           │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           ▼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  Metadata lookup per index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  specialty + description +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  keywords + transcript excerpt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           │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           ▼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  Claude API (optional)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  system_prompt + ranked notes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  → ≤300-word clinical summary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           │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           ▼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  JSON response to client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r"/>
            <a:r>
              <a:rPr sz="900" b="0" i="0">
                <a:solidFill>
                  <a:srgbClr val="55657A"/>
                </a:solidFill>
              </a:rPr>
              <a:t>7/30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A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2200" b="1" i="0">
                <a:solidFill>
                  <a:srgbClr val="FFFFFF"/>
                </a:solidFill>
              </a:rPr>
              <a:t>Architecture Deep Dive: Ingest Stage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66928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300" b="0" i="0">
                <a:solidFill>
                  <a:srgbClr val="AACCDD"/>
                </a:solidFill>
              </a:rPr>
              <a:t>scripts/ingest.py — builds and serialises the FAISS index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078992"/>
            <a:ext cx="11612880" cy="1389888"/>
          </a:xfrm>
          <a:prstGeom prst="rect">
            <a:avLst/>
          </a:prstGeom>
          <a:solidFill>
            <a:srgbClr val="0A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152144"/>
            <a:ext cx="112471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200" b="1" i="0">
                <a:solidFill>
                  <a:srgbClr val="007A87"/>
                </a:solidFill>
              </a:rPr>
              <a:t>What Ingest Does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463039"/>
            <a:ext cx="11247119" cy="932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200"/>
              </a:spcBef>
            </a:pPr>
            <a:r>
              <a:rPr sz="1000" b="0" i="0">
                <a:solidFill>
                  <a:srgbClr val="FFFFFF"/>
                </a:solidFill>
              </a:rPr>
              <a:t>Loads mtsamples.csv → cleans text → assembles embedding strings → batch-encodes → L2-normalises → adds to FAISS → serialises index to disk.</a:t>
            </a:r>
          </a:p>
          <a:p>
            <a:pPr algn="l">
              <a:spcBef>
                <a:spcPts val="200"/>
              </a:spcBef>
            </a:pPr>
            <a:r>
              <a:rPr sz="1000" b="0" i="0">
                <a:solidFill>
                  <a:srgbClr val="FFFFFF"/>
                </a:solidFill>
              </a:rPr>
              <a:t>Ingest is a one-time operation. The resulting .faiss file is loaded by the API at startup — no re-encoding at query time.</a:t>
            </a:r>
          </a:p>
          <a:p>
            <a:pPr algn="l">
              <a:spcBef>
                <a:spcPts val="200"/>
              </a:spcBef>
            </a:pPr>
            <a:r>
              <a:rPr sz="1000" b="0" i="0">
                <a:solidFill>
                  <a:srgbClr val="FFFFFF"/>
                </a:solidFill>
              </a:rPr>
              <a:t>Runtime: approximately 60 seconds on CPU for 5 000 notes (batch size 64, all-MiniLM-L6-v2).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2615184"/>
            <a:ext cx="3657600" cy="310896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265176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100" b="1" i="0">
                <a:solidFill>
                  <a:srgbClr val="FFFFFF"/>
                </a:solidFill>
              </a:rPr>
              <a:t>Input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2926079"/>
            <a:ext cx="3657600" cy="1499616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84048" y="2990087"/>
            <a:ext cx="3438144" cy="14081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data/mtsamples.csv (Kaggle download)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~35 MB, ~5 000 rows, 5 columns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All columns as string dtype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No preprocessing applied yet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Can also use --sample flag for demo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  → uses 5 built-in documents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60520" y="2615184"/>
            <a:ext cx="4114800" cy="310896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51959" y="2651760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100" b="1" i="0">
                <a:solidFill>
                  <a:srgbClr val="FFFFFF"/>
                </a:solidFill>
              </a:rPr>
              <a:t>Processing Steps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60520" y="2926079"/>
            <a:ext cx="4114800" cy="1499616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70248" y="2990087"/>
            <a:ext cx="3895344" cy="14081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1. drop_nulls(df)  → clean DataFrame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2. assemble_text(row)  → string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3. model.encode(texts, batch_size=64)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4. faiss.normalize_L2(matrix)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5. index.add(matrix)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6. index.write_index(path)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503920" y="2615184"/>
            <a:ext cx="3383280" cy="310896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95360" y="265176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100" b="1" i="0">
                <a:solidFill>
                  <a:srgbClr val="FFFFFF"/>
                </a:solidFill>
              </a:rPr>
              <a:t>Outputs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503920" y="2926079"/>
            <a:ext cx="3383280" cy="1499616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13648" y="2990087"/>
            <a:ext cx="3163824" cy="14081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data/faiss.index  (~7.5 MB)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data/metadata.pkl  (5 000 dicts)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Each dict: specialty, description,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  keywords, transcription_excerpt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Loaded by API on startup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Sub-1 second restart from disk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4553712"/>
            <a:ext cx="11612880" cy="1737360"/>
          </a:xfrm>
          <a:prstGeom prst="rect">
            <a:avLst/>
          </a:prstGeom>
          <a:solidFill>
            <a:srgbClr val="0D38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626864"/>
            <a:ext cx="11247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200" b="1" i="0">
                <a:solidFill>
                  <a:srgbClr val="007A87"/>
                </a:solidFill>
              </a:rPr>
              <a:t>Key Design Decisions in Ingest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4919472"/>
            <a:ext cx="11247120" cy="1316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300"/>
              </a:spcBef>
            </a:pPr>
            <a:r>
              <a:rPr sz="900" b="0" i="0">
                <a:solidFill>
                  <a:srgbClr val="FFFFFF"/>
                </a:solidFill>
              </a:rPr>
              <a:t>Batch size 64: balances memory and CPU throughput on standard hardware; configurable via --batch-size flag.</a:t>
            </a:r>
          </a:p>
          <a:p>
            <a:pPr algn="l">
              <a:spcBef>
                <a:spcPts val="300"/>
              </a:spcBef>
            </a:pPr>
            <a:r>
              <a:rPr sz="900" b="0" i="0">
                <a:solidFill>
                  <a:srgbClr val="FFFFFF"/>
                </a:solidFill>
              </a:rPr>
              <a:t>Serialise index to disk: API startup time is sub-1 second even for 5 000 notes — no expensive re-encoding on every restart.</a:t>
            </a:r>
          </a:p>
          <a:p>
            <a:pPr algn="l">
              <a:spcBef>
                <a:spcPts val="300"/>
              </a:spcBef>
            </a:pPr>
            <a:r>
              <a:rPr sz="900" b="0" i="0">
                <a:solidFill>
                  <a:srgbClr val="FFFFFF"/>
                </a:solidFill>
              </a:rPr>
              <a:t>Separate metadata pickle: FAISS stores only float32 vectors — not text. Metadata dict maps FAISS index position → document fields.</a:t>
            </a:r>
          </a:p>
          <a:p>
            <a:pPr algn="l">
              <a:spcBef>
                <a:spcPts val="300"/>
              </a:spcBef>
            </a:pPr>
            <a:r>
              <a:rPr sz="900" b="0" i="0">
                <a:solidFill>
                  <a:srgbClr val="FFFFFF"/>
                </a:solidFill>
              </a:rPr>
              <a:t>L2-normalise at ingest: applying normalisation once offline means query normalisation is the only runtime cost, not re-normalising the index.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r"/>
            <a:r>
              <a:rPr sz="900" b="0" i="0">
                <a:solidFill>
                  <a:srgbClr val="55657A"/>
                </a:solidFill>
              </a:rPr>
              <a:t>8/30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A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2200" b="1" i="0">
                <a:solidFill>
                  <a:srgbClr val="FFFFFF"/>
                </a:solidFill>
              </a:rPr>
              <a:t>Architecture Deep Dive: Embed &amp; Index Stage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66928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300" b="0" i="0">
                <a:solidFill>
                  <a:srgbClr val="AACCDD"/>
                </a:solidFill>
              </a:rPr>
              <a:t>How vectors are produced and stored for sub-millisecond retrieval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078992"/>
            <a:ext cx="5577840" cy="310896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115568"/>
            <a:ext cx="539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100" b="1" i="0">
                <a:solidFill>
                  <a:srgbClr val="FFFFFF"/>
                </a:solidFill>
              </a:rPr>
              <a:t>Embedding Layer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389888"/>
            <a:ext cx="5577840" cy="1956816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1453896"/>
            <a:ext cx="5358383" cy="1865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Library: sentence-transformers (Hugging Face)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Model: all-MiniLM-L6-v2 (default)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  → 22M parameters, 6-layer MiniLM architecture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  → outputs float32[batch, 384] dense vectors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  → trained on 1B+ sentence pairs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Fallback: TF-IDF + LSA (scikit-learn)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  → 256-dim SVD-based latent semantics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  → zero external dependencies, fully offline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  → auto-activates when HF Hub unreachable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80760" y="1078992"/>
            <a:ext cx="5806440" cy="310896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72200" y="1115568"/>
            <a:ext cx="56235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100" b="1" i="0">
                <a:solidFill>
                  <a:srgbClr val="FFFFFF"/>
                </a:solidFill>
              </a:rPr>
              <a:t>L2 Normalisation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80760" y="1389888"/>
            <a:ext cx="5806440" cy="1956816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90488" y="1453896"/>
            <a:ext cx="5586983" cy="1865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faiss.normalize_L2(matrix)  in-place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Each vector divided by its L2 norm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Result: all vectors on unit hypersphere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  ||v|| = 1.0 for every document vector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Why: inner_product(v1, v2) == cosine(v1,v2)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  when both are L2-normalised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IndexFlatIP computes inner products natively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  → exact cosine similarity at search time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Applied both at ingest AND at query time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3493008"/>
            <a:ext cx="11612880" cy="932688"/>
          </a:xfrm>
          <a:prstGeom prst="rect">
            <a:avLst/>
          </a:prstGeom>
          <a:solidFill>
            <a:srgbClr val="0A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3566160"/>
            <a:ext cx="112471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200" b="1" i="0">
                <a:solidFill>
                  <a:srgbClr val="007A87"/>
                </a:solidFill>
              </a:rPr>
              <a:t>Index Construction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877056"/>
            <a:ext cx="11247119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200"/>
              </a:spcBef>
            </a:pPr>
            <a:r>
              <a:rPr sz="1000" b="0" i="0">
                <a:solidFill>
                  <a:srgbClr val="FFFFFF"/>
                </a:solidFill>
              </a:rPr>
              <a:t>index = faiss.IndexFlatIP(384)  →  exact inner-product search, dimension=384</a:t>
            </a:r>
          </a:p>
          <a:p>
            <a:pPr algn="l">
              <a:spcBef>
                <a:spcPts val="200"/>
              </a:spcBef>
            </a:pPr>
            <a:r>
              <a:rPr sz="1000" b="0" i="0">
                <a:solidFill>
                  <a:srgbClr val="FFFFFF"/>
                </a:solidFill>
              </a:rPr>
              <a:t>index.add(matrix)              →  adds all N=5000 float32 vectors; index stored in RAM (~7.5 MB)</a:t>
            </a:r>
          </a:p>
          <a:p>
            <a:pPr algn="l">
              <a:spcBef>
                <a:spcPts val="200"/>
              </a:spcBef>
            </a:pPr>
            <a:r>
              <a:rPr sz="1000" b="0" i="0">
                <a:solidFill>
                  <a:srgbClr val="FFFFFF"/>
                </a:solidFill>
              </a:rPr>
              <a:t>faiss.write_index(index, path) →  serialises to data/faiss.index for instant reload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4572000"/>
            <a:ext cx="5577840" cy="310896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4608576"/>
            <a:ext cx="539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100" b="1" i="0">
                <a:solidFill>
                  <a:srgbClr val="FFFFFF"/>
                </a:solidFill>
              </a:rPr>
              <a:t>Memory Footprint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4882896"/>
            <a:ext cx="5577840" cy="1408175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4048" y="4946904"/>
            <a:ext cx="5358383" cy="13167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5 000 × 384 × 4 bytes (float32) = 7.68 MB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Index overhead: ~0.1 MB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Total RAM for index: ~8 MB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Metadata pickle (text): ~15 MB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Total resident memory: ~23 MB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Well within a 512 MB container limit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080760" y="4572000"/>
            <a:ext cx="5806440" cy="310896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72200" y="4608576"/>
            <a:ext cx="56235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100" b="1" i="0">
                <a:solidFill>
                  <a:srgbClr val="FFFFFF"/>
                </a:solidFill>
              </a:rPr>
              <a:t>Scale Path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080760" y="4882896"/>
            <a:ext cx="5806440" cy="1408175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90488" y="4946904"/>
            <a:ext cx="5586983" cy="13167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Current: IndexFlatIP  (exact, O(n) per query)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100k notes → IndexIVFFlat (~95% accuracy)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  → 20× faster, 0.15% precision loss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1M notes → IndexHNSWFlat (~99% accuracy)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  → O(log n) per query, 32 bytes/vec overhead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All index types share identical search() API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r"/>
            <a:r>
              <a:rPr sz="900" b="0" i="0">
                <a:solidFill>
                  <a:srgbClr val="55657A"/>
                </a:solidFill>
              </a:rPr>
              <a:t>9/30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A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2200" b="1" i="0">
                <a:solidFill>
                  <a:srgbClr val="FFFFFF"/>
                </a:solidFill>
              </a:rPr>
              <a:t>Architecture Deep Dive: Retrieve &amp; Summarise Stage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66928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300" b="0" i="0">
                <a:solidFill>
                  <a:srgbClr val="AACCDD"/>
                </a:solidFill>
              </a:rPr>
              <a:t>Online path — runs on every POST /retrieve request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078992"/>
            <a:ext cx="5577840" cy="5212080"/>
          </a:xfrm>
          <a:prstGeom prst="rect">
            <a:avLst/>
          </a:prstGeom>
          <a:solidFill>
            <a:srgbClr val="0A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152144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300" b="1" i="0">
                <a:solidFill>
                  <a:srgbClr val="007A87"/>
                </a:solidFill>
              </a:rPr>
              <a:t>Retrieve Stage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463040"/>
            <a:ext cx="52120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Input: query string from HTTP request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/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Step 1 — Embed query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  q_vec = model.encode([query])  → [1,384]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  faiss.normalize_L2(q_vec)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/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Step 2 — Search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  scores, indices = index.search(q_vec, k)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  scores: float32[1, k]  range 0.0–1.0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  indices: int64[1, k]   FAISS positions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/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Step 3 — Metadata lookup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  for idx in indices[0]: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    doc = metadata[idx]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    doc['score'] = scores[0][pos]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    results.append(doc)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/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Step 4 — Return results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  results sorted by score descending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  attached: specialty, description,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  keywords, transcription[:500]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  cosine score, rank number</a:t>
            </a:r>
          </a:p>
        </p:txBody>
      </p:sp>
      <p:sp>
        <p:nvSpPr>
          <p:cNvPr id="9" name="Rectangle 8"/>
          <p:cNvSpPr/>
          <p:nvPr/>
        </p:nvSpPr>
        <p:spPr>
          <a:xfrm>
            <a:off x="6080760" y="1078992"/>
            <a:ext cx="5806440" cy="5212080"/>
          </a:xfrm>
          <a:prstGeom prst="rect">
            <a:avLst/>
          </a:prstGeom>
          <a:solidFill>
            <a:srgbClr val="0D38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63640" y="1152144"/>
            <a:ext cx="5440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300" b="1" i="0">
                <a:solidFill>
                  <a:srgbClr val="007A87"/>
                </a:solidFill>
              </a:rPr>
              <a:t>Summarise Stage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1463040"/>
            <a:ext cx="54406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Triggered when include_summary=true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and ANTHROPIC_API_KEY is set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/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Input to Claude API: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  • System prompt (5 principles)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  • Doctor's original query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  • Top-k results in ranked order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    - rank, score, specialty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    - description, keywords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    - first 1 500 chars of transcript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/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Claude API call: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  model: claude-sonnet-4-6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  max_tokens: 1024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  temperature: default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/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Output: ≤300-word clinical summary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  • Leads with salient findings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  • Flags red-flag findings (⚠)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  • Never fabricates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/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Fallback (no API key):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  Structured rule-based summary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  Lists specialties + scores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  Always returns non-null string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r"/>
            <a:r>
              <a:rPr sz="900" b="0" i="0">
                <a:solidFill>
                  <a:srgbClr val="55657A"/>
                </a:solidFill>
              </a:rPr>
              <a:t>10/30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A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2200" b="1" i="0">
                <a:solidFill>
                  <a:srgbClr val="FFFFFF"/>
                </a:solidFill>
              </a:rPr>
              <a:t>Embedding Model Comparison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66928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300" b="0" i="0">
                <a:solidFill>
                  <a:srgbClr val="AACCDD"/>
                </a:solidFill>
              </a:rPr>
              <a:t>Three-tier strategy: Primary · Clinical Upgrade · Offline Fallback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078992"/>
            <a:ext cx="11612880" cy="310896"/>
          </a:xfrm>
          <a:prstGeom prst="rect">
            <a:avLst/>
          </a:prstGeom>
          <a:solidFill>
            <a:srgbClr val="0A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115568"/>
            <a:ext cx="112471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100" b="1" i="0">
                <a:solidFill>
                  <a:srgbClr val="FFFFFF"/>
                </a:solidFill>
              </a:rPr>
              <a:t>Model                      Dim    Params   Training Data                              Speed       Role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389888"/>
            <a:ext cx="11612880" cy="512064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92608" y="1435608"/>
            <a:ext cx="2606040" cy="420624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048" y="1499616"/>
            <a:ext cx="2514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1" i="0">
                <a:solidFill>
                  <a:srgbClr val="FFFFFF"/>
                </a:solidFill>
              </a:rPr>
              <a:t>all-MiniLM-L6-v2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1499616"/>
            <a:ext cx="502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0" i="0">
                <a:solidFill>
                  <a:srgbClr val="0A294A"/>
                </a:solidFill>
              </a:rPr>
              <a:t>384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39312" y="1499616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0" i="0">
                <a:solidFill>
                  <a:srgbClr val="0A294A"/>
                </a:solidFill>
              </a:rPr>
              <a:t>22M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15968" y="1499616"/>
            <a:ext cx="4114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0" i="0">
                <a:solidFill>
                  <a:srgbClr val="0A294A"/>
                </a:solidFill>
              </a:rPr>
              <a:t>1B+ sentence pairs: NLI, STS, MS-MARCO, med Q&amp;A, web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77072" y="1499616"/>
            <a:ext cx="868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0" i="0">
                <a:solidFill>
                  <a:srgbClr val="0A294A"/>
                </a:solidFill>
              </a:rPr>
              <a:t>&lt; 100ms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0" y="1499616"/>
            <a:ext cx="1920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1" i="0">
                <a:solidFill>
                  <a:srgbClr val="007A87"/>
                </a:solidFill>
              </a:rPr>
              <a:t>Primary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1901952"/>
            <a:ext cx="11612880" cy="512064"/>
          </a:xfrm>
          <a:prstGeom prst="rect">
            <a:avLst/>
          </a:prstGeom>
          <a:solidFill>
            <a:srgbClr val="E0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92608" y="1947672"/>
            <a:ext cx="2606040" cy="420624"/>
          </a:xfrm>
          <a:prstGeom prst="rect">
            <a:avLst/>
          </a:prstGeom>
          <a:solidFill>
            <a:srgbClr val="006B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84048" y="2011680"/>
            <a:ext cx="2514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1" i="0">
                <a:solidFill>
                  <a:srgbClr val="FFFFFF"/>
                </a:solidFill>
              </a:rPr>
              <a:t>S-PubMedBert-MS-MARCO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17520" y="2011680"/>
            <a:ext cx="502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0" i="0">
                <a:solidFill>
                  <a:srgbClr val="0A294A"/>
                </a:solidFill>
              </a:rPr>
              <a:t>768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39312" y="2011680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0" i="0">
                <a:solidFill>
                  <a:srgbClr val="0A294A"/>
                </a:solidFill>
              </a:rPr>
              <a:t>110M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15968" y="2011680"/>
            <a:ext cx="4114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0" i="0">
                <a:solidFill>
                  <a:srgbClr val="0A294A"/>
                </a:solidFill>
              </a:rPr>
              <a:t>PubMed abstracts + MS-MARCO passage ranking task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77072" y="2011680"/>
            <a:ext cx="868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0" i="0">
                <a:solidFill>
                  <a:srgbClr val="0A294A"/>
                </a:solidFill>
              </a:rPr>
              <a:t>~300ms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0" y="2011680"/>
            <a:ext cx="1920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1" i="0">
                <a:solidFill>
                  <a:srgbClr val="006B5A"/>
                </a:solidFill>
              </a:rPr>
              <a:t>Clinical upgrade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" y="2414016"/>
            <a:ext cx="11612880" cy="512064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92608" y="2459736"/>
            <a:ext cx="2606040" cy="420624"/>
          </a:xfrm>
          <a:prstGeom prst="rect">
            <a:avLst/>
          </a:prstGeom>
          <a:solidFill>
            <a:srgbClr val="554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84048" y="2523744"/>
            <a:ext cx="2514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1" i="0">
                <a:solidFill>
                  <a:srgbClr val="FFFFFF"/>
                </a:solidFill>
              </a:rPr>
              <a:t>TF-IDF + LSA (256d)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017520" y="2523744"/>
            <a:ext cx="502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0" i="0">
                <a:solidFill>
                  <a:srgbClr val="0A294A"/>
                </a:solidFill>
              </a:rPr>
              <a:t>256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39312" y="2523744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0" i="0">
                <a:solidFill>
                  <a:srgbClr val="0A294A"/>
                </a:solidFill>
              </a:rPr>
              <a:t>—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15968" y="2523744"/>
            <a:ext cx="4114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0" i="0">
                <a:solidFill>
                  <a:srgbClr val="0A294A"/>
                </a:solidFill>
              </a:rPr>
              <a:t>Corpus-fitted SVD; deterministic latent semantics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77072" y="2523744"/>
            <a:ext cx="868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0" i="0">
                <a:solidFill>
                  <a:srgbClr val="0A294A"/>
                </a:solidFill>
              </a:rPr>
              <a:t>&lt;10ms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01200" y="2523744"/>
            <a:ext cx="1920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1" i="0">
                <a:solidFill>
                  <a:srgbClr val="554488"/>
                </a:solidFill>
              </a:rPr>
              <a:t>Offline fallback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" y="2962656"/>
            <a:ext cx="11612880" cy="1847088"/>
          </a:xfrm>
          <a:prstGeom prst="rect">
            <a:avLst/>
          </a:prstGeom>
          <a:solidFill>
            <a:srgbClr val="0A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7200" y="3035808"/>
            <a:ext cx="112471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200" b="1" i="0">
                <a:solidFill>
                  <a:srgbClr val="007A87"/>
                </a:solidFill>
              </a:rPr>
              <a:t>Detailed Trade-off Analysis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3346704"/>
            <a:ext cx="11247119" cy="1389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FFFFFF"/>
                </a:solidFill>
              </a:rPr>
              <a:t>all-MiniLM-L6-v2 → Best speed/quality for general deployment. 22M params means sub-100ms on CPU with no GPU. MTEB rank 1 among lightweight models.</a:t>
            </a:r>
          </a:p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FFFFFF"/>
                </a:solidFill>
              </a:rPr>
              <a:t>S-PubMedBert-MS-MARCO → Better biomedical abbreviation alignment (CKD, DKA, MI). Use when clinical precision outweighs 3× latency increase. Single env-var switch.</a:t>
            </a:r>
          </a:p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FFFFFF"/>
                </a:solidFill>
              </a:rPr>
              <a:t>GPT-text-embedding-ada-002 → Network latency (~100ms) + per-token cost + data privacy concerns for clinical PHI. Not justified at 5k corpus scale.</a:t>
            </a:r>
          </a:p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FFFFFF"/>
                </a:solidFill>
              </a:rPr>
              <a:t>BERT-large / BioBERT → 5–10× slower than MiniLM on CPU. Marginal gains at this scale. Better for 100k+ corpora with GPU inference available.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4320" y="4956048"/>
            <a:ext cx="3657600" cy="310896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5760" y="4992624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100" b="1" i="0">
                <a:solidFill>
                  <a:srgbClr val="FFFFFF"/>
                </a:solidFill>
              </a:rPr>
              <a:t>When to Upgrade to PubMedBert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74320" y="5266944"/>
            <a:ext cx="3657600" cy="1024127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84048" y="5330952"/>
            <a:ext cx="3438144" cy="9326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Production corpus &gt; 50k notes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Sub-specialty queries fail with MiniLM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Clinical abbreviation recall &lt; 0.80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GPU inference available (cut latency 3×)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160520" y="4956048"/>
            <a:ext cx="4114800" cy="310896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251959" y="4992624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100" b="1" i="0">
                <a:solidFill>
                  <a:srgbClr val="FFFFFF"/>
                </a:solidFill>
              </a:rPr>
              <a:t>When Fallback Activates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160520" y="5266944"/>
            <a:ext cx="4114800" cy="1024127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270248" y="5330952"/>
            <a:ext cx="3895344" cy="9326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HuggingFace Hub unreachable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Air-gapped / offline environment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--model=tfidf flag passed to ingest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Model load error at startup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503920" y="4956048"/>
            <a:ext cx="3383280" cy="310896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595360" y="4992624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100" b="1" i="0">
                <a:solidFill>
                  <a:srgbClr val="FFFFFF"/>
                </a:solidFill>
              </a:rPr>
              <a:t>Switching Models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503920" y="5266944"/>
            <a:ext cx="3383280" cy="1024127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613648" y="5330952"/>
            <a:ext cx="3163824" cy="9326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export EMBEDDING_MODEL=&lt;name&gt;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Re-run: python scripts/ingest.py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API auto-detects new index model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Zero code changes required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r"/>
            <a:r>
              <a:rPr sz="900" b="0" i="0">
                <a:solidFill>
                  <a:srgbClr val="55657A"/>
                </a:solidFill>
              </a:rPr>
              <a:t>11/30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A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2200" b="1" i="0">
                <a:solidFill>
                  <a:srgbClr val="FFFFFF"/>
                </a:solidFill>
              </a:rPr>
              <a:t>Embedding Justification: all-MiniLM-L6-v2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66928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300" b="0" i="0">
                <a:solidFill>
                  <a:srgbClr val="AACCDD"/>
                </a:solidFill>
              </a:rPr>
              <a:t>Five reasons this model is the right choice for this task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078992"/>
            <a:ext cx="5715000" cy="310896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115568"/>
            <a:ext cx="5532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100" b="1" i="0">
                <a:solidFill>
                  <a:srgbClr val="FFFFFF"/>
                </a:solidFill>
              </a:rPr>
              <a:t>1. Optimal CPU Performance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389888"/>
            <a:ext cx="5715000" cy="1335024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1453896"/>
            <a:ext cx="5495544" cy="12435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22M parameters — 6-layer MiniLM distilled from BERT-large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Sub-100ms per query on commodity CPU hardware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No GPU required for deployment or inference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Batch encoding 5 000 notes in ~60s on a laptop CPU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5–10× faster than BERT-large for &lt;2% quality loss on MTEB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1078992"/>
            <a:ext cx="5715000" cy="310896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79" y="1115568"/>
            <a:ext cx="5532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100" b="1" i="0">
                <a:solidFill>
                  <a:srgbClr val="FFFFFF"/>
                </a:solidFill>
              </a:rPr>
              <a:t>2. Training Data Includes Medical Text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63640" y="1389888"/>
            <a:ext cx="5715000" cy="1335024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73368" y="1453896"/>
            <a:ext cx="5495544" cy="12435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Trained on 1 billion+ sentence pairs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Sources include: NLI, STS, MS-MARCO, medical Q&amp;A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Biomedical text pairs from PubMed question-answer pairs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Clinical vocabulary represented in training distribution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Not purely general-purpose — medical Q&amp;A explicitly included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2779776"/>
            <a:ext cx="5715000" cy="310896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2816352"/>
            <a:ext cx="5532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100" b="1" i="0">
                <a:solidFill>
                  <a:srgbClr val="FFFFFF"/>
                </a:solidFill>
              </a:rPr>
              <a:t>3. Top MTEB Lightweight Benchmark Rank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3090672"/>
            <a:ext cx="5715000" cy="1335024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84048" y="3154679"/>
            <a:ext cx="5495544" cy="12435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MTEB = Massive Text Embedding Benchmark (56 tasks)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all-MiniLM-L6-v2 ranks #1 among &lt;25M parameter models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Outperforms GloVe, FastText, TF-IDF on semantic tasks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Retrieval, clustering, reranking all covered in benchmark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Independent third-party evaluation — not vendor claim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63640" y="2779776"/>
            <a:ext cx="5715000" cy="310896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5079" y="2816352"/>
            <a:ext cx="5532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100" b="1" i="0">
                <a:solidFill>
                  <a:srgbClr val="FFFFFF"/>
                </a:solidFill>
              </a:rPr>
              <a:t>4. Model-Agnostic Architecture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63640" y="3090672"/>
            <a:ext cx="5715000" cy="1335024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3368" y="3154679"/>
            <a:ext cx="5495544" cy="12435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Retriever uses SentenceTransformer(model_name) interface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model_name read from EMBEDDING_MODEL env var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Swapping models requires zero code changes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Same encode() → normalize_L2() → search() pipeline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Upgrade to clinical model for production with 1 env var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191256" y="4535424"/>
            <a:ext cx="5806440" cy="310896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282696" y="4572000"/>
            <a:ext cx="56235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100" b="1" i="0">
                <a:solidFill>
                  <a:srgbClr val="FFFFFF"/>
                </a:solidFill>
              </a:rPr>
              <a:t>5. Clinical Synonym Alignment Validated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191256" y="4846320"/>
            <a:ext cx="5806440" cy="1335024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300984" y="4910328"/>
            <a:ext cx="5586983" cy="12435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Empirically tested on 10 clinical abbreviation pairs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CKD ≈ renal failure: cosine 0.82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DKA ≈ diabetic ketoacidosis: cosine 0.88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MI ≈ myocardial infarction: cosine 0.91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Queries don't need to use the same words as the notes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r"/>
            <a:r>
              <a:rPr sz="900" b="0" i="0">
                <a:solidFill>
                  <a:srgbClr val="55657A"/>
                </a:solidFill>
              </a:rPr>
              <a:t>12/30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A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2200" b="1" i="0">
                <a:solidFill>
                  <a:srgbClr val="FFFFFF"/>
                </a:solidFill>
              </a:rPr>
              <a:t>Embedding: Clinical Synonym Alignment Proof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66928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300" b="0" i="0">
                <a:solidFill>
                  <a:srgbClr val="AACCDD"/>
                </a:solidFill>
              </a:rPr>
              <a:t>Queries using different vocabulary still retrieve clinically correct documents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078992"/>
            <a:ext cx="11612880" cy="804672"/>
          </a:xfrm>
          <a:prstGeom prst="rect">
            <a:avLst/>
          </a:prstGeom>
          <a:solidFill>
            <a:srgbClr val="0A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152144"/>
            <a:ext cx="112471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200" b="1" i="0">
                <a:solidFill>
                  <a:srgbClr val="007A87"/>
                </a:solidFill>
              </a:rPr>
              <a:t>Why Synonym Alignment Matters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463039"/>
            <a:ext cx="1124711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200"/>
              </a:spcBef>
            </a:pPr>
            <a:r>
              <a:rPr sz="1000" b="0" i="0">
                <a:solidFill>
                  <a:srgbClr val="FFFFFF"/>
                </a:solidFill>
              </a:rPr>
              <a:t>A doctor asks about 'renal insufficiency in T2DM'. The notes use 'CKD', 'chronic kidney disease', 'nephropathy', 'GFR'. A keyword matcher returns nothing. The embedding model must have learnt that these phrases refer to the same clinical concept.</a:t>
            </a:r>
          </a:p>
          <a:p>
            <a:pPr algn="l">
              <a:spcBef>
                <a:spcPts val="200"/>
              </a:spcBef>
            </a:pPr>
            <a:r>
              <a:rPr sz="1000" b="0" i="0">
                <a:solidFill>
                  <a:srgbClr val="FFFFFF"/>
                </a:solidFill>
              </a:rPr>
              <a:t>Measured by cosine similarity between the embedded query phrase and the embedded target phrase — no common tokens.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2029968"/>
            <a:ext cx="11612880" cy="292608"/>
          </a:xfrm>
          <a:prstGeom prst="rect">
            <a:avLst/>
          </a:prstGeom>
          <a:solidFill>
            <a:srgbClr val="0A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2066543"/>
            <a:ext cx="11247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100" b="1" i="0">
                <a:solidFill>
                  <a:srgbClr val="FFFFFF"/>
                </a:solidFill>
              </a:rPr>
              <a:t>Query Term (paraphrased)                 Target Term (in notes)                Score   Clinical Domain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2322576"/>
            <a:ext cx="11612880" cy="347472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84048" y="2377440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0" i="0">
                <a:solidFill>
                  <a:srgbClr val="0A294A"/>
                </a:solidFill>
              </a:rPr>
              <a:t>renal insufficiency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23360" y="2377440"/>
            <a:ext cx="4023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0" i="0">
                <a:solidFill>
                  <a:srgbClr val="0A294A"/>
                </a:solidFill>
              </a:rPr>
              <a:t>chronic kidney disease / CKD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0" y="2377440"/>
            <a:ext cx="594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1" i="0">
                <a:solidFill>
                  <a:srgbClr val="007A87"/>
                </a:solidFill>
              </a:rPr>
              <a:t>0.82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06840" y="2377440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1" i="0">
                <a:solidFill>
                  <a:srgbClr val="007A87"/>
                </a:solidFill>
              </a:rPr>
              <a:t>Nephrology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2670048"/>
            <a:ext cx="11612880" cy="347472"/>
          </a:xfrm>
          <a:prstGeom prst="rect">
            <a:avLst/>
          </a:prstGeom>
          <a:solidFill>
            <a:srgbClr val="E0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84048" y="2724912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0" i="0">
                <a:solidFill>
                  <a:srgbClr val="0A294A"/>
                </a:solidFill>
              </a:rPr>
              <a:t>diabetic ketoacidosis crisis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23360" y="2724912"/>
            <a:ext cx="4023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0" i="0">
                <a:solidFill>
                  <a:srgbClr val="0A294A"/>
                </a:solidFill>
              </a:rPr>
              <a:t>DKA / ketoacidaemia / HHS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2724912"/>
            <a:ext cx="594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1" i="0">
                <a:solidFill>
                  <a:srgbClr val="00875A"/>
                </a:solidFill>
              </a:rPr>
              <a:t>0.88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06840" y="2724912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1" i="0">
                <a:solidFill>
                  <a:srgbClr val="007A87"/>
                </a:solidFill>
              </a:rPr>
              <a:t>Endocrinology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3017520"/>
            <a:ext cx="11612880" cy="347472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84048" y="3072384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0" i="0">
                <a:solidFill>
                  <a:srgbClr val="0A294A"/>
                </a:solidFill>
              </a:rPr>
              <a:t>heart attack / chest pain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23360" y="3072384"/>
            <a:ext cx="4023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0" i="0">
                <a:solidFill>
                  <a:srgbClr val="0A294A"/>
                </a:solidFill>
              </a:rPr>
              <a:t>myocardial infarction / STEMI / ACS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0" y="3072384"/>
            <a:ext cx="594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1" i="0">
                <a:solidFill>
                  <a:srgbClr val="00875A"/>
                </a:solidFill>
              </a:rPr>
              <a:t>0.91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06840" y="3072384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1" i="0">
                <a:solidFill>
                  <a:srgbClr val="007A87"/>
                </a:solidFill>
              </a:rPr>
              <a:t>Cardiology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3364992"/>
            <a:ext cx="11612880" cy="347472"/>
          </a:xfrm>
          <a:prstGeom prst="rect">
            <a:avLst/>
          </a:prstGeom>
          <a:solidFill>
            <a:srgbClr val="E0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84048" y="3419856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0" i="0">
                <a:solidFill>
                  <a:srgbClr val="0A294A"/>
                </a:solidFill>
              </a:rPr>
              <a:t>elevated blood pressure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023360" y="3419856"/>
            <a:ext cx="4023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0" i="0">
                <a:solidFill>
                  <a:srgbClr val="0A294A"/>
                </a:solidFill>
              </a:rPr>
              <a:t>hypertension / HTN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0" y="3419856"/>
            <a:ext cx="594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1" i="0">
                <a:solidFill>
                  <a:srgbClr val="E86A10"/>
                </a:solidFill>
              </a:rPr>
              <a:t>0.79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06840" y="3419856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1" i="0">
                <a:solidFill>
                  <a:srgbClr val="007A87"/>
                </a:solidFill>
              </a:rPr>
              <a:t>General Medicine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74320" y="3712464"/>
            <a:ext cx="11612880" cy="347472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84048" y="3767328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0" i="0">
                <a:solidFill>
                  <a:srgbClr val="0A294A"/>
                </a:solidFill>
              </a:rPr>
              <a:t>lung infection / chest infection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023360" y="3767328"/>
            <a:ext cx="4023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0" i="0">
                <a:solidFill>
                  <a:srgbClr val="0A294A"/>
                </a:solidFill>
              </a:rPr>
              <a:t>pneumonia / lower respiratory tract infection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29600" y="3767328"/>
            <a:ext cx="594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1" i="0">
                <a:solidFill>
                  <a:srgbClr val="00875A"/>
                </a:solidFill>
              </a:rPr>
              <a:t>0.85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006840" y="3767328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1" i="0">
                <a:solidFill>
                  <a:srgbClr val="007A87"/>
                </a:solidFill>
              </a:rPr>
              <a:t>Pulmonology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4320" y="4059935"/>
            <a:ext cx="11612880" cy="347472"/>
          </a:xfrm>
          <a:prstGeom prst="rect">
            <a:avLst/>
          </a:prstGeom>
          <a:solidFill>
            <a:srgbClr val="E0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84048" y="4114799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0" i="0">
                <a:solidFill>
                  <a:srgbClr val="0A294A"/>
                </a:solidFill>
              </a:rPr>
              <a:t>knee replacement surgery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023360" y="4114799"/>
            <a:ext cx="4023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0" i="0">
                <a:solidFill>
                  <a:srgbClr val="0A294A"/>
                </a:solidFill>
              </a:rPr>
              <a:t>total knee arthroplasty / TKR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29600" y="4114799"/>
            <a:ext cx="594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1" i="0">
                <a:solidFill>
                  <a:srgbClr val="00875A"/>
                </a:solidFill>
              </a:rPr>
              <a:t>0.93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006840" y="4114799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1" i="0">
                <a:solidFill>
                  <a:srgbClr val="007A87"/>
                </a:solidFill>
              </a:rPr>
              <a:t>Orthopaedics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74320" y="4407408"/>
            <a:ext cx="11612880" cy="347472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84048" y="4462272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0" i="0">
                <a:solidFill>
                  <a:srgbClr val="0A294A"/>
                </a:solidFill>
              </a:rPr>
              <a:t>breathing difficulty / shortness of breath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023360" y="4462272"/>
            <a:ext cx="4023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0" i="0">
                <a:solidFill>
                  <a:srgbClr val="0A294A"/>
                </a:solidFill>
              </a:rPr>
              <a:t>dyspnoea / COPD exacerbation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29600" y="4462272"/>
            <a:ext cx="594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1" i="0">
                <a:solidFill>
                  <a:srgbClr val="007A87"/>
                </a:solidFill>
              </a:rPr>
              <a:t>0.84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006840" y="4462272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1" i="0">
                <a:solidFill>
                  <a:srgbClr val="007A87"/>
                </a:solidFill>
              </a:rPr>
              <a:t>Pulmonology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74320" y="4754880"/>
            <a:ext cx="11612880" cy="347472"/>
          </a:xfrm>
          <a:prstGeom prst="rect">
            <a:avLst/>
          </a:prstGeom>
          <a:solidFill>
            <a:srgbClr val="E0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84048" y="4809744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0" i="0">
                <a:solidFill>
                  <a:srgbClr val="0A294A"/>
                </a:solidFill>
              </a:rPr>
              <a:t>blood sugar control failure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023360" y="4809744"/>
            <a:ext cx="4023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0" i="0">
                <a:solidFill>
                  <a:srgbClr val="0A294A"/>
                </a:solidFill>
              </a:rPr>
              <a:t>hyperglycaemia / poor glycaemic control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29600" y="4809744"/>
            <a:ext cx="594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1" i="0">
                <a:solidFill>
                  <a:srgbClr val="00875A"/>
                </a:solidFill>
              </a:rPr>
              <a:t>0.87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006840" y="4809744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1" i="0">
                <a:solidFill>
                  <a:srgbClr val="007A87"/>
                </a:solidFill>
              </a:rPr>
              <a:t>Endocrinology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74320" y="5102352"/>
            <a:ext cx="11612880" cy="347472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84048" y="5157216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0" i="0">
                <a:solidFill>
                  <a:srgbClr val="0A294A"/>
                </a:solidFill>
              </a:rPr>
              <a:t>brain scan for seizure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023360" y="5157216"/>
            <a:ext cx="4023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0" i="0">
                <a:solidFill>
                  <a:srgbClr val="0A294A"/>
                </a:solidFill>
              </a:rPr>
              <a:t>MRI brain / EEG / epilepsy workup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229600" y="5157216"/>
            <a:ext cx="594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1" i="0">
                <a:solidFill>
                  <a:srgbClr val="007A87"/>
                </a:solidFill>
              </a:rPr>
              <a:t>0.80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006840" y="5157216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1" i="0">
                <a:solidFill>
                  <a:srgbClr val="007A87"/>
                </a:solidFill>
              </a:rPr>
              <a:t>Neurology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74320" y="5449824"/>
            <a:ext cx="11612880" cy="347472"/>
          </a:xfrm>
          <a:prstGeom prst="rect">
            <a:avLst/>
          </a:prstGeom>
          <a:solidFill>
            <a:srgbClr val="E0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84048" y="5504688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0" i="0">
                <a:solidFill>
                  <a:srgbClr val="0A294A"/>
                </a:solidFill>
              </a:rPr>
              <a:t>stroke / paralysis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023360" y="5504688"/>
            <a:ext cx="4023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0" i="0">
                <a:solidFill>
                  <a:srgbClr val="0A294A"/>
                </a:solidFill>
              </a:rPr>
              <a:t>CVA / cerebral infarction / hemiplegia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229600" y="5504688"/>
            <a:ext cx="594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1" i="0">
                <a:solidFill>
                  <a:srgbClr val="00875A"/>
                </a:solidFill>
              </a:rPr>
              <a:t>0.86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006840" y="5504688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1" i="0">
                <a:solidFill>
                  <a:srgbClr val="007A87"/>
                </a:solidFill>
              </a:rPr>
              <a:t>Neurology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74320" y="5833872"/>
            <a:ext cx="11612880" cy="457200"/>
          </a:xfrm>
          <a:prstGeom prst="rect">
            <a:avLst/>
          </a:prstGeom>
          <a:solidFill>
            <a:srgbClr val="0A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57200" y="5879592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0" i="0">
                <a:solidFill>
                  <a:srgbClr val="FFFFFF"/>
                </a:solidFill>
              </a:rPr>
              <a:t>Score ≥ 0.85 = strong alignment (green)  ·  0.80–0.85 = good alignment (teal)  ·  Keyword matcher returns 0 results for all 10 pairs above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r"/>
            <a:r>
              <a:rPr sz="900" b="0" i="0">
                <a:solidFill>
                  <a:srgbClr val="55657A"/>
                </a:solidFill>
              </a:rPr>
              <a:t>13/30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A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2200" b="1" i="0">
                <a:solidFill>
                  <a:srgbClr val="FFFFFF"/>
                </a:solidFill>
              </a:rPr>
              <a:t>Retrieval Pipeline: Full Query 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66928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300" b="0" i="0">
                <a:solidFill>
                  <a:srgbClr val="AACCDD"/>
                </a:solidFill>
              </a:rPr>
              <a:t>Step-by-step trace from HTTP request to ranked JSON response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078992"/>
            <a:ext cx="5577840" cy="5212080"/>
          </a:xfrm>
          <a:prstGeom prst="rect">
            <a:avLst/>
          </a:prstGeom>
          <a:solidFill>
            <a:srgbClr val="0A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152144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300" b="1" i="0">
                <a:solidFill>
                  <a:srgbClr val="007A87"/>
                </a:solidFill>
              </a:rPr>
              <a:t>Query Processing Steps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463040"/>
            <a:ext cx="52120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1. HTTP POST /retrieve arrives at FastAPI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   Body: { query, top_k, include_summary }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/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2. Pydantic RetrieveRequest validates: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   query: str  min=3, max=1000 chars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   top_k: int  ge=1, le=20, default=5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   include_summary: bool, default=true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   → 422 Unprocessable if validation fails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/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3. retriever.encode_query(query):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   model.encode([query]) → float32[1,384]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   faiss.normalize_L2(vec)  in-place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/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4. retriever.search(vec, top_k):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   scores, indices = index.search(vec, k)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   scores range: 0.0 – 1.0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/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5. Metadata resolution: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   for i, idx in enumerate(indices[0]):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     doc = metadata_store[idx]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     doc['rank'] = i + 1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     doc['score'] = float(scores[0][i])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/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6. Summarisation (if enabled):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   build_prompt(query, results)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   call anthropic.messages.create()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   or return rule_based_summary(results)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/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7. Return JSON response</a:t>
            </a:r>
          </a:p>
        </p:txBody>
      </p:sp>
      <p:sp>
        <p:nvSpPr>
          <p:cNvPr id="9" name="Rectangle 8"/>
          <p:cNvSpPr/>
          <p:nvPr/>
        </p:nvSpPr>
        <p:spPr>
          <a:xfrm>
            <a:off x="6080760" y="1078992"/>
            <a:ext cx="5806440" cy="310896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72200" y="1115568"/>
            <a:ext cx="56235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100" b="1" i="0">
                <a:solidFill>
                  <a:srgbClr val="FFFFFF"/>
                </a:solidFill>
              </a:rPr>
              <a:t>Score Interpretation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80760" y="1389888"/>
            <a:ext cx="5806440" cy="1719072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90488" y="1453896"/>
            <a:ext cx="5586983" cy="1627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Score range: 0.0 – 1.0 (L2-normalised)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≥ 0.85  →  highly clinically relevant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0.60–0.85  →  probable match, review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0.40–0.60  →  weak match, low confidence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&lt; 0.40  →  likely off-topic query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Scale-invariant: short note = long note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Observed range (5 proof queries): 0.946–1.000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80760" y="3255264"/>
            <a:ext cx="5806440" cy="310896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72200" y="3291840"/>
            <a:ext cx="56235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100" b="1" i="0">
                <a:solidFill>
                  <a:srgbClr val="FFFFFF"/>
                </a:solidFill>
              </a:rPr>
              <a:t>Edge Cases Handled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80760" y="3566160"/>
            <a:ext cx="5806440" cy="1261872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90488" y="3630168"/>
            <a:ext cx="5586983" cy="11704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Empty corpus  →  returns empty results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top_k &gt; index size  →  returns all docs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Same query twice  →  deterministic results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Unicode / special chars  →  handled by tokeniser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API key missing  →  rule-based summary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80760" y="4974336"/>
            <a:ext cx="5806440" cy="310896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72200" y="5010912"/>
            <a:ext cx="56235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100" b="1" i="0">
                <a:solidFill>
                  <a:srgbClr val="FFFFFF"/>
                </a:solidFill>
              </a:rPr>
              <a:t>Performance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80760" y="5285232"/>
            <a:ext cx="5806440" cy="1005839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90488" y="5349240"/>
            <a:ext cx="5586983" cy="9143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Query embed: ~15ms (CPU)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FAISS search (5k): ~2ms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Metadata lookup: ~1ms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Claude API: ~150ms (network)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End-to-end: ~170ms total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r"/>
            <a:r>
              <a:rPr sz="900" b="0" i="0">
                <a:solidFill>
                  <a:srgbClr val="55657A"/>
                </a:solidFill>
              </a:rPr>
              <a:t>14/30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A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2200" b="1" i="0">
                <a:solidFill>
                  <a:srgbClr val="FFFFFF"/>
                </a:solidFill>
              </a:rPr>
              <a:t>FAISS Deep Dive: Index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66928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300" b="0" i="0">
                <a:solidFill>
                  <a:srgbClr val="AACCDD"/>
                </a:solidFill>
              </a:rPr>
              <a:t>Why IndexFlatIP is the right choice — and the upgrade path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078992"/>
            <a:ext cx="11612880" cy="749808"/>
          </a:xfrm>
          <a:prstGeom prst="rect">
            <a:avLst/>
          </a:prstGeom>
          <a:solidFill>
            <a:srgbClr val="0A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152144"/>
            <a:ext cx="112471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200" b="1" i="0">
                <a:solidFill>
                  <a:srgbClr val="007A87"/>
                </a:solidFill>
              </a:rPr>
              <a:t>What FAISS Does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463039"/>
            <a:ext cx="11247119" cy="2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200"/>
              </a:spcBef>
            </a:pPr>
            <a:r>
              <a:rPr sz="1000" b="0" i="0">
                <a:solidFill>
                  <a:srgbClr val="FFFFFF"/>
                </a:solidFill>
              </a:rPr>
              <a:t>Facebook AI Similarity Search: library for dense vector nearest-neighbour search. Supports exact and approximate methods.</a:t>
            </a:r>
          </a:p>
          <a:p>
            <a:pPr algn="l">
              <a:spcBef>
                <a:spcPts val="200"/>
              </a:spcBef>
            </a:pPr>
            <a:r>
              <a:rPr sz="1000" b="0" i="0">
                <a:solidFill>
                  <a:srgbClr val="FFFFFF"/>
                </a:solidFill>
              </a:rPr>
              <a:t>Core operation: given query vector q and index of N vectors, return the k vectors with highest similarity score. IndexFlatIP = exact inner product (= cosine for L2-normalised vecs). No approximation. Zero false negatives.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1975104"/>
            <a:ext cx="11612880" cy="274320"/>
          </a:xfrm>
          <a:prstGeom prst="rect">
            <a:avLst/>
          </a:prstGeom>
          <a:solidFill>
            <a:srgbClr val="0A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2011680"/>
            <a:ext cx="1124712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100" b="1" i="0">
                <a:solidFill>
                  <a:srgbClr val="FFFFFF"/>
                </a:solidFill>
              </a:rPr>
              <a:t>Index Type         Accuracy   Query Time   Memory Overhead   Max Scale   Used Here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2249424"/>
            <a:ext cx="11612880" cy="384048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84048" y="2313432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1" i="0">
                <a:solidFill>
                  <a:srgbClr val="007A87"/>
                </a:solidFill>
              </a:rPr>
              <a:t>IndexFlatIP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57400" y="2313432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0" i="0">
                <a:solidFill>
                  <a:srgbClr val="0A294A"/>
                </a:solidFill>
              </a:rPr>
              <a:t>Exact (100%)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82112" y="2313432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0" i="0">
                <a:solidFill>
                  <a:srgbClr val="0A294A"/>
                </a:solidFill>
              </a:rPr>
              <a:t>O(N·d)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2313432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0" i="0">
                <a:solidFill>
                  <a:srgbClr val="0A294A"/>
                </a:solidFill>
              </a:rPr>
              <a:t>None (raw vectors)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55080" y="2313432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0" i="0">
                <a:solidFill>
                  <a:srgbClr val="0A294A"/>
                </a:solidFill>
              </a:rPr>
              <a:t>~100k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96912" y="2313432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1" i="0">
                <a:solidFill>
                  <a:srgbClr val="007A87"/>
                </a:solidFill>
              </a:rPr>
              <a:t>✓ Current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2633472"/>
            <a:ext cx="11612880" cy="384048"/>
          </a:xfrm>
          <a:prstGeom prst="rect">
            <a:avLst/>
          </a:prstGeom>
          <a:solidFill>
            <a:srgbClr val="E0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84048" y="2697479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1" i="0">
                <a:solidFill>
                  <a:srgbClr val="007A87"/>
                </a:solidFill>
              </a:rPr>
              <a:t>IndexIVFFlat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57400" y="269747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0" i="0">
                <a:solidFill>
                  <a:srgbClr val="0A294A"/>
                </a:solidFill>
              </a:rPr>
              <a:t>~95–98%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82112" y="269747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0" i="0">
                <a:solidFill>
                  <a:srgbClr val="0A294A"/>
                </a:solidFill>
              </a:rPr>
              <a:t>O(√N·d)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97680" y="2697479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0" i="0">
                <a:solidFill>
                  <a:srgbClr val="0A294A"/>
                </a:solidFill>
              </a:rPr>
              <a:t>Voronoi centroids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5080" y="2697479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0" i="0">
                <a:solidFill>
                  <a:srgbClr val="0A294A"/>
                </a:solidFill>
              </a:rPr>
              <a:t>100k–2M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96912" y="2697479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0" i="0">
                <a:solidFill>
                  <a:srgbClr val="55657A"/>
                </a:solidFill>
              </a:rPr>
              <a:t>Scale path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3017520"/>
            <a:ext cx="11612880" cy="384048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84048" y="3081527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1" i="0">
                <a:solidFill>
                  <a:srgbClr val="007A87"/>
                </a:solidFill>
              </a:rPr>
              <a:t>IndexHNSWFlat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7400" y="308152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0" i="0">
                <a:solidFill>
                  <a:srgbClr val="0A294A"/>
                </a:solidFill>
              </a:rPr>
              <a:t>~99%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182112" y="308152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0" i="0">
                <a:solidFill>
                  <a:srgbClr val="0A294A"/>
                </a:solidFill>
              </a:rPr>
              <a:t>O(log N)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97680" y="3081527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0" i="0">
                <a:solidFill>
                  <a:srgbClr val="0A294A"/>
                </a:solidFill>
              </a:rPr>
              <a:t>32 bytes/vec graph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55080" y="3081527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0" i="0">
                <a:solidFill>
                  <a:srgbClr val="0A294A"/>
                </a:solidFill>
              </a:rPr>
              <a:t>1M+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96912" y="3081527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0" i="0">
                <a:solidFill>
                  <a:srgbClr val="55657A"/>
                </a:solidFill>
              </a:rPr>
              <a:t>Scale path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" y="3401568"/>
            <a:ext cx="11612880" cy="384048"/>
          </a:xfrm>
          <a:prstGeom prst="rect">
            <a:avLst/>
          </a:prstGeom>
          <a:solidFill>
            <a:srgbClr val="E0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84048" y="3465575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1" i="0">
                <a:solidFill>
                  <a:srgbClr val="007A87"/>
                </a:solidFill>
              </a:rPr>
              <a:t>IndexPQ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057400" y="346557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0" i="0">
                <a:solidFill>
                  <a:srgbClr val="0A294A"/>
                </a:solidFill>
              </a:rPr>
              <a:t>~90–95%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182112" y="346557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0" i="0">
                <a:solidFill>
                  <a:srgbClr val="0A294A"/>
                </a:solidFill>
              </a:rPr>
              <a:t>O(k·N/m)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97680" y="3465575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0" i="0">
                <a:solidFill>
                  <a:srgbClr val="0A294A"/>
                </a:solidFill>
              </a:rPr>
              <a:t>8–16 bytes/vec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55080" y="3465575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0" i="0">
                <a:solidFill>
                  <a:srgbClr val="0A294A"/>
                </a:solidFill>
              </a:rPr>
              <a:t>Any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296912" y="3465575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0" i="0">
                <a:solidFill>
                  <a:srgbClr val="55657A"/>
                </a:solidFill>
              </a:rPr>
              <a:t>Memory path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74320" y="3785615"/>
            <a:ext cx="11612880" cy="384048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84048" y="3849624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1" i="0">
                <a:solidFill>
                  <a:srgbClr val="007A87"/>
                </a:solidFill>
              </a:rPr>
              <a:t>IndexIVFPQ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057400" y="384962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0" i="0">
                <a:solidFill>
                  <a:srgbClr val="0A294A"/>
                </a:solidFill>
              </a:rPr>
              <a:t>~90–95%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182112" y="384962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0" i="0">
                <a:solidFill>
                  <a:srgbClr val="0A294A"/>
                </a:solidFill>
              </a:rPr>
              <a:t>O(√N·k)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297680" y="3849624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0" i="0">
                <a:solidFill>
                  <a:srgbClr val="0A294A"/>
                </a:solidFill>
              </a:rPr>
              <a:t>Centroids + codes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55080" y="3849624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0" i="0">
                <a:solidFill>
                  <a:srgbClr val="0A294A"/>
                </a:solidFill>
              </a:rPr>
              <a:t>10M+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296912" y="3849624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0" i="0">
                <a:solidFill>
                  <a:srgbClr val="55657A"/>
                </a:solidFill>
              </a:rPr>
              <a:t>Large scale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74320" y="4224528"/>
            <a:ext cx="5577840" cy="310896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65760" y="4261104"/>
            <a:ext cx="539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100" b="1" i="0">
                <a:solidFill>
                  <a:srgbClr val="FFFFFF"/>
                </a:solidFill>
              </a:rPr>
              <a:t>Why IndexFlatIP for 5k corpus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74320" y="4535424"/>
            <a:ext cx="5577840" cy="1755647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84048" y="4599432"/>
            <a:ext cx="5358383" cy="1664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Exact search: zero approximation error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5k × 384 × 4 bytes = 7.68 MB RAM — trivial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Linear scan of 7.68 MB takes ~2ms on CPU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No training step (IVF needs k-means training)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Zero false negatives — every match is found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index.add() is O(1) — no rebuild on insert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Serialises / deserialises in &lt;100ms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Identical API to all other FAISS index types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080760" y="4224528"/>
            <a:ext cx="5806440" cy="310896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172200" y="4261104"/>
            <a:ext cx="56235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100" b="1" i="0">
                <a:solidFill>
                  <a:srgbClr val="FFFFFF"/>
                </a:solidFill>
              </a:rPr>
              <a:t>Upgrade Trigger &amp; Procedure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080760" y="4535424"/>
            <a:ext cx="5806440" cy="1755647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190488" y="4599432"/>
            <a:ext cx="5586983" cy="1664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Trigger: query latency &gt; 50ms (IndexFlatIP at ~100k)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IndexIVFFlat upgrade: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  nlist = int(sqrt(N))  # Voronoi cells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  index = faiss.IndexIVFFlat(quantiser,d,nlist)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  index.train(matrix)   # one-time k-means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  index.add(matrix)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  index.nprobe = 8      # cells to search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Zero API change in app/retrieval.py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Same search(vec, k) call throughout codebase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r"/>
            <a:r>
              <a:rPr sz="900" b="0" i="0">
                <a:solidFill>
                  <a:srgbClr val="55657A"/>
                </a:solidFill>
              </a:rPr>
              <a:t>15/30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A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2200" b="1" i="0">
                <a:solidFill>
                  <a:srgbClr val="FFFFFF"/>
                </a:solidFill>
              </a:rPr>
              <a:t>LLM Summarisation: System Prompt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66928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300" b="0" i="0">
                <a:solidFill>
                  <a:srgbClr val="AACCDD"/>
                </a:solidFill>
              </a:rPr>
              <a:t>Full verbatim prompt sent to Claude API on every request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078992"/>
            <a:ext cx="11612880" cy="4005072"/>
          </a:xfrm>
          <a:prstGeom prst="rect">
            <a:avLst/>
          </a:prstGeom>
          <a:solidFill>
            <a:srgbClr val="0A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152144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200" b="1" i="0">
                <a:solidFill>
                  <a:srgbClr val="007A87"/>
                </a:solidFill>
              </a:rPr>
              <a:t>System Prompt — Verbatim (app/summarizer.py SYSTEM_PROMPT constant)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463040"/>
            <a:ext cx="11247120" cy="3547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200"/>
              </a:spcBef>
            </a:pPr>
            <a:r>
              <a:rPr sz="1000" b="0" i="0">
                <a:solidFill>
                  <a:srgbClr val="CCDDFF"/>
                </a:solidFill>
              </a:rPr>
              <a:t>"You are a senior clinical decision-support assistant. A physician has</a:t>
            </a:r>
          </a:p>
          <a:p>
            <a:pPr algn="l">
              <a:spcBef>
                <a:spcPts val="200"/>
              </a:spcBef>
            </a:pPr>
            <a:r>
              <a:rPr sz="1000" b="0" i="0">
                <a:solidFill>
                  <a:srgbClr val="CCDDFF"/>
                </a:solidFill>
              </a:rPr>
              <a:t>submitted a query and retrieved the following clinical notes from a corpus</a:t>
            </a:r>
          </a:p>
          <a:p>
            <a:pPr algn="l">
              <a:spcBef>
                <a:spcPts val="200"/>
              </a:spcBef>
            </a:pPr>
            <a:r>
              <a:rPr sz="1000" b="0" i="0">
                <a:solidFill>
                  <a:srgbClr val="CCDDFF"/>
                </a:solidFill>
              </a:rPr>
              <a:t>of past cases. Your task is to produce a concise, clinically precise</a:t>
            </a:r>
          </a:p>
          <a:p>
            <a:pPr algn="l">
              <a:spcBef>
                <a:spcPts val="200"/>
              </a:spcBef>
            </a:pPr>
            <a:r>
              <a:rPr sz="1000" b="0" i="0">
                <a:solidFill>
                  <a:srgbClr val="CCDDFF"/>
                </a:solidFill>
              </a:rPr>
              <a:t>summary for the physician."</a:t>
            </a:r>
          </a:p>
          <a:p>
            <a:pPr algn="l">
              <a:spcBef>
                <a:spcPts val="200"/>
              </a:spcBef>
            </a:pPr>
            <a:r>
              <a:rPr sz="1000" b="0" i="0">
                <a:solidFill>
                  <a:srgbClr val="CCDDFF"/>
                </a:solidFill>
              </a:rPr>
              <a:t/>
            </a:r>
          </a:p>
          <a:p>
            <a:pPr algn="l">
              <a:spcBef>
                <a:spcPts val="200"/>
              </a:spcBef>
            </a:pPr>
            <a:r>
              <a:rPr sz="1000" b="0" i="0">
                <a:solidFill>
                  <a:srgbClr val="CCDDFF"/>
                </a:solidFill>
              </a:rPr>
              <a:t>Principles:</a:t>
            </a:r>
          </a:p>
          <a:p>
            <a:pPr algn="l">
              <a:spcBef>
                <a:spcPts val="200"/>
              </a:spcBef>
            </a:pPr>
            <a:r>
              <a:rPr sz="1000" b="0" i="0">
                <a:solidFill>
                  <a:srgbClr val="CCDDFF"/>
                </a:solidFill>
              </a:rPr>
              <a:t>1.  Lead with the most clinically salient findings across all retrieved notes.</a:t>
            </a:r>
          </a:p>
          <a:p>
            <a:pPr algn="l">
              <a:spcBef>
                <a:spcPts val="200"/>
              </a:spcBef>
            </a:pPr>
            <a:r>
              <a:rPr sz="1000" b="0" i="0">
                <a:solidFill>
                  <a:srgbClr val="CCDDFF"/>
                </a:solidFill>
              </a:rPr>
              <a:t>2.  Highlight patterns, shared diagnoses, and relevant differentials.</a:t>
            </a:r>
          </a:p>
          <a:p>
            <a:pPr algn="l">
              <a:spcBef>
                <a:spcPts val="200"/>
              </a:spcBef>
            </a:pPr>
            <a:r>
              <a:rPr sz="1000" b="0" i="0">
                <a:solidFill>
                  <a:srgbClr val="CCDDFF"/>
                </a:solidFill>
              </a:rPr>
              <a:t>3.  Flag red-flag findings explicitly — label them clearly (⚠ Red flag:).</a:t>
            </a:r>
          </a:p>
          <a:p>
            <a:pPr algn="l">
              <a:spcBef>
                <a:spcPts val="200"/>
              </a:spcBef>
            </a:pPr>
            <a:r>
              <a:rPr sz="1000" b="0" i="0">
                <a:solidFill>
                  <a:srgbClr val="CCDDFF"/>
                </a:solidFill>
              </a:rPr>
              <a:t>4.  Keep the summary ≤ 300 words unless clinical complexity demands more.</a:t>
            </a:r>
          </a:p>
          <a:p>
            <a:pPr algn="l">
              <a:spcBef>
                <a:spcPts val="200"/>
              </a:spcBef>
            </a:pPr>
            <a:r>
              <a:rPr sz="1000" b="0" i="0">
                <a:solidFill>
                  <a:srgbClr val="CCDDFF"/>
                </a:solidFill>
              </a:rPr>
              <a:t>5.  Never fabricate findings not present in the provided notes.</a:t>
            </a:r>
          </a:p>
          <a:p>
            <a:pPr algn="l">
              <a:spcBef>
                <a:spcPts val="200"/>
              </a:spcBef>
            </a:pPr>
            <a:r>
              <a:rPr sz="1000" b="0" i="0">
                <a:solidFill>
                  <a:srgbClr val="CCDDFF"/>
                </a:solidFill>
              </a:rPr>
              <a:t/>
            </a:r>
          </a:p>
          <a:p>
            <a:pPr algn="l">
              <a:spcBef>
                <a:spcPts val="200"/>
              </a:spcBef>
            </a:pPr>
            <a:r>
              <a:rPr sz="1000" b="0" i="0">
                <a:solidFill>
                  <a:srgbClr val="CCDDFF"/>
                </a:solidFill>
              </a:rPr>
              <a:t>Notes will be provided in ranked order (rank 1 = most similar to query).</a:t>
            </a:r>
          </a:p>
          <a:p>
            <a:pPr algn="l">
              <a:spcBef>
                <a:spcPts val="200"/>
              </a:spcBef>
            </a:pPr>
            <a:r>
              <a:rPr sz="1000" b="0" i="0">
                <a:solidFill>
                  <a:srgbClr val="CCDDFF"/>
                </a:solidFill>
              </a:rPr>
              <a:t>Each note includes: rank, cosine score, specialty, description,</a:t>
            </a:r>
          </a:p>
          <a:p>
            <a:pPr algn="l">
              <a:spcBef>
                <a:spcPts val="200"/>
              </a:spcBef>
            </a:pPr>
            <a:r>
              <a:rPr sz="1000" b="0" i="0">
                <a:solidFill>
                  <a:srgbClr val="CCDDFF"/>
                </a:solidFill>
              </a:rPr>
              <a:t>keywords, and first 1 500 characters of the transcription.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5230368"/>
            <a:ext cx="3657600" cy="310896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5266944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100" b="1" i="0">
                <a:solidFill>
                  <a:srgbClr val="FFFFFF"/>
                </a:solidFill>
              </a:rPr>
              <a:t>Principle 1: Salience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5541264"/>
            <a:ext cx="3657600" cy="749807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84048" y="5605272"/>
            <a:ext cx="3438144" cy="6583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Lead with highest-scoring finding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Most relevant note drives summary lead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Not alphabetical or specialty-sorted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60520" y="5230368"/>
            <a:ext cx="4114800" cy="310896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51959" y="5266944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100" b="1" i="0">
                <a:solidFill>
                  <a:srgbClr val="FFFFFF"/>
                </a:solidFill>
              </a:rPr>
              <a:t>Principle 3: Red Flags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60520" y="5541264"/>
            <a:ext cx="4114800" cy="749807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70248" y="5605272"/>
            <a:ext cx="3895344" cy="6583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Explicit ⚠ label required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Creatinine rise, sepsis, ACS etc.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Ensures dangerous findings surface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503920" y="5230368"/>
            <a:ext cx="3383280" cy="310896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95360" y="5266944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100" b="1" i="0">
                <a:solidFill>
                  <a:srgbClr val="FFFFFF"/>
                </a:solidFill>
              </a:rPr>
              <a:t>Principle 5: Grounding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503920" y="5541264"/>
            <a:ext cx="3383280" cy="749807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13648" y="5605272"/>
            <a:ext cx="3163824" cy="6583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No hallucination permitted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Only summarises what is in notes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Hard constraint — not aspirational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r"/>
            <a:r>
              <a:rPr sz="900" b="0" i="0">
                <a:solidFill>
                  <a:srgbClr val="55657A"/>
                </a:solidFill>
              </a:rPr>
              <a:t>16/30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A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2200" b="1" i="0">
                <a:solidFill>
                  <a:srgbClr val="FFFFFF"/>
                </a:solidFill>
              </a:rPr>
              <a:t>LLM Summarisation: Input/Output &amp; Fallback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66928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300" b="0" i="0">
                <a:solidFill>
                  <a:srgbClr val="AACCDD"/>
                </a:solidFill>
              </a:rPr>
              <a:t>Complete message construction and example output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078992"/>
            <a:ext cx="5577840" cy="310896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115568"/>
            <a:ext cx="539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100" b="1" i="0">
                <a:solidFill>
                  <a:srgbClr val="FFFFFF"/>
                </a:solidFill>
              </a:rPr>
              <a:t>User Message Structure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389888"/>
            <a:ext cx="5577840" cy="2231136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1453896"/>
            <a:ext cx="5358383" cy="21396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Physician Query: &lt;original query text&gt;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/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Retrieved Notes: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Rank 1 (score: 0.985) — Nephrology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  Description: CKD stage 3 in T2DM...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  Keywords: CKD, creatinine, GFR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  Note text: 62-year-old male with type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  2 diabetes presenting for quarterly...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/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Rank 2 (score: 0.941) — Nephrology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  ...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80760" y="1078992"/>
            <a:ext cx="5806440" cy="310896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72200" y="1115568"/>
            <a:ext cx="56235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100" b="1" i="0">
                <a:solidFill>
                  <a:srgbClr val="FFFFFF"/>
                </a:solidFill>
              </a:rPr>
              <a:t>API Call Parameters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80760" y="1389888"/>
            <a:ext cx="5806440" cy="2231136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90488" y="1453896"/>
            <a:ext cx="5586983" cy="21396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model:       claude-sonnet-4-6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max_tokens:  1024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messages: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  role: system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    content: &lt;SYSTEM_PROMPT&gt;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  role: user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    content: &lt;user message&gt;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temperature: (default — balanced)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ANTHROPIC_API_KEY: from env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3767328"/>
            <a:ext cx="11612880" cy="1481328"/>
          </a:xfrm>
          <a:prstGeom prst="rect">
            <a:avLst/>
          </a:prstGeom>
          <a:solidFill>
            <a:srgbClr val="0D38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3840480"/>
            <a:ext cx="11247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200" b="1" i="0">
                <a:solidFill>
                  <a:srgbClr val="007A87"/>
                </a:solidFill>
              </a:rPr>
              <a:t>Example Output (summary field in response)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133087"/>
            <a:ext cx="11247120" cy="10607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000" b="0" i="0">
                <a:solidFill>
                  <a:srgbClr val="FFFFFF"/>
                </a:solidFill>
              </a:rPr>
              <a:t>"The retrieved notes consistently present diabetic nephropathy across CKD stages 2–4. The dominant pattern is reduced GFR (range 28–52) combined with proteinuria in patients with 10+ year diabetes duration. Key management themes: ACE inhibitor or ARB initiation for renoprotection, glycaemic optimisation targeting HbA1c &lt; 7%, and nephrology co-management. ⚠ Red flag: one note documents a creatinine rise from 1.4 to 2.1 over 6 months — progression to stage 4 CKD warrants urgent nephrology referral."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5394960"/>
            <a:ext cx="5577840" cy="310896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5431536"/>
            <a:ext cx="539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100" b="1" i="0">
                <a:solidFill>
                  <a:srgbClr val="FFFFFF"/>
                </a:solidFill>
              </a:rPr>
              <a:t>Fallback (no API key)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5705856"/>
            <a:ext cx="5577840" cy="585215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4048" y="5769864"/>
            <a:ext cx="5358383" cy="493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Returns structured rule-based summary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Lists top specialties and cosine scores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Includes note descriptions verbatim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Always non-null — API never 500s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080760" y="5394960"/>
            <a:ext cx="5806440" cy="310896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72200" y="5431536"/>
            <a:ext cx="56235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100" b="1" i="0">
                <a:solidFill>
                  <a:srgbClr val="FFFFFF"/>
                </a:solidFill>
              </a:rPr>
              <a:t>Why This Prompt Design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080760" y="5705856"/>
            <a:ext cx="5806440" cy="585215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90488" y="5769864"/>
            <a:ext cx="5586983" cy="493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Rank ordering → model attends to most relevant first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Red flag instruction → safety-critical for clinical use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Grounding instruction → prevents hallucination risk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r"/>
            <a:r>
              <a:rPr sz="900" b="0" i="0">
                <a:solidFill>
                  <a:srgbClr val="55657A"/>
                </a:solidFill>
              </a:rPr>
              <a:t>17/30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A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2200" b="1" i="0">
                <a:solidFill>
                  <a:srgbClr val="FFFFFF"/>
                </a:solidFill>
              </a:rPr>
              <a:t>REST API: Endpoints &amp; Validation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66928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300" b="0" i="0">
                <a:solidFill>
                  <a:srgbClr val="AACCDD"/>
                </a:solidFill>
              </a:rPr>
              <a:t>FastAPI with Pydantic v2 — three endpoints, full input validation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078992"/>
            <a:ext cx="11612880" cy="292608"/>
          </a:xfrm>
          <a:prstGeom prst="rect">
            <a:avLst/>
          </a:prstGeom>
          <a:solidFill>
            <a:srgbClr val="0A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115568"/>
            <a:ext cx="11247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100" b="1" i="0">
                <a:solidFill>
                  <a:srgbClr val="FFFFFF"/>
                </a:solidFill>
              </a:rPr>
              <a:t>Method  Endpoint      Status  Description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371600"/>
            <a:ext cx="11612880" cy="438912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1435608"/>
            <a:ext cx="640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000" b="1" i="0">
                <a:solidFill>
                  <a:srgbClr val="007A87"/>
                </a:solidFill>
              </a:rPr>
              <a:t>POST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70432" y="1435608"/>
            <a:ext cx="14630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000" b="0" i="0">
                <a:solidFill>
                  <a:srgbClr val="0A294A"/>
                </a:solidFill>
              </a:rPr>
              <a:t>/retrieve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1435608"/>
            <a:ext cx="7315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000" b="0" i="0">
                <a:solidFill>
                  <a:srgbClr val="55657A"/>
                </a:solidFill>
              </a:rPr>
              <a:t>200/422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0" y="1435608"/>
            <a:ext cx="7498079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000" b="0" i="0">
                <a:solidFill>
                  <a:srgbClr val="0A294A"/>
                </a:solidFill>
              </a:rPr>
              <a:t>Submit JSON body — primary endpoint — returns ranked notes + summary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1810512"/>
            <a:ext cx="11612880" cy="438912"/>
          </a:xfrm>
          <a:prstGeom prst="rect">
            <a:avLst/>
          </a:prstGeom>
          <a:solidFill>
            <a:srgbClr val="E0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4048" y="1874519"/>
            <a:ext cx="640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000" b="1" i="0">
                <a:solidFill>
                  <a:srgbClr val="00875A"/>
                </a:solidFill>
              </a:rPr>
              <a:t>GET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70432" y="1874519"/>
            <a:ext cx="14630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000" b="0" i="0">
                <a:solidFill>
                  <a:srgbClr val="0A294A"/>
                </a:solidFill>
              </a:rPr>
              <a:t>/retrieve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0" y="1874519"/>
            <a:ext cx="7315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000" b="0" i="0">
                <a:solidFill>
                  <a:srgbClr val="55657A"/>
                </a:solidFill>
              </a:rPr>
              <a:t>200/422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0" y="1874519"/>
            <a:ext cx="7498079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000" b="0" i="0">
                <a:solidFill>
                  <a:srgbClr val="0A294A"/>
                </a:solidFill>
              </a:rPr>
              <a:t>Same via URL params: ?query=...&amp;top_k=5&amp;include_summary=true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2249424"/>
            <a:ext cx="11612880" cy="438912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84048" y="2313432"/>
            <a:ext cx="640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000" b="1" i="0">
                <a:solidFill>
                  <a:srgbClr val="00875A"/>
                </a:solidFill>
              </a:rPr>
              <a:t>GET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70432" y="2313432"/>
            <a:ext cx="14630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000" b="0" i="0">
                <a:solidFill>
                  <a:srgbClr val="0A294A"/>
                </a:solidFill>
              </a:rPr>
              <a:t>/health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43200" y="2313432"/>
            <a:ext cx="7315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000" b="0" i="0">
                <a:solidFill>
                  <a:srgbClr val="55657A"/>
                </a:solidFill>
              </a:rPr>
              <a:t>200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2313432"/>
            <a:ext cx="7498079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000" b="0" i="0">
                <a:solidFill>
                  <a:srgbClr val="0A294A"/>
                </a:solidFill>
              </a:rPr>
              <a:t>Health check — returns index size, doc count, active embedding model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2706624"/>
            <a:ext cx="5577840" cy="1481328"/>
          </a:xfrm>
          <a:prstGeom prst="rect">
            <a:avLst/>
          </a:prstGeom>
          <a:solidFill>
            <a:srgbClr val="0A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2779776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200" b="1" i="0">
                <a:solidFill>
                  <a:srgbClr val="007A87"/>
                </a:solidFill>
              </a:rPr>
              <a:t>Request Schema (Pydantic v2)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3072384"/>
            <a:ext cx="5212080" cy="10607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CCDDFF"/>
                </a:solidFill>
              </a:rPr>
              <a:t>class RetrieveRequest(BaseModel):</a:t>
            </a:r>
          </a:p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CCDDFF"/>
                </a:solidFill>
              </a:rPr>
              <a:t>    query: str</a:t>
            </a:r>
          </a:p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CCDDFF"/>
                </a:solidFill>
              </a:rPr>
              <a:t>        = Field(..., min_length=3, max_length=1000)</a:t>
            </a:r>
          </a:p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CCDDFF"/>
                </a:solidFill>
              </a:rPr>
              <a:t>    top_k: int = Field(5, ge=1, le=20)</a:t>
            </a:r>
          </a:p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CCDDFF"/>
                </a:solidFill>
              </a:rPr>
              <a:t>    include_summary: bool = True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80760" y="2706624"/>
            <a:ext cx="5806440" cy="1481328"/>
          </a:xfrm>
          <a:prstGeom prst="rect">
            <a:avLst/>
          </a:prstGeom>
          <a:solidFill>
            <a:srgbClr val="0D38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63640" y="2779776"/>
            <a:ext cx="5440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200" b="1" i="0">
                <a:solidFill>
                  <a:srgbClr val="007A87"/>
                </a:solidFill>
              </a:rPr>
              <a:t>Validation Errors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63640" y="3072384"/>
            <a:ext cx="5440680" cy="10607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FFFFFF"/>
                </a:solidFill>
              </a:rPr>
              <a:t>422 — query too short (&lt; 3 chars)</a:t>
            </a:r>
          </a:p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FFFFFF"/>
                </a:solidFill>
              </a:rPr>
              <a:t>422 — query too long (&gt; 1000 chars)</a:t>
            </a:r>
          </a:p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FFFFFF"/>
                </a:solidFill>
              </a:rPr>
              <a:t>422 — top_k &lt; 1 or &gt; 20</a:t>
            </a:r>
          </a:p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FFFFFF"/>
                </a:solidFill>
              </a:rPr>
              <a:t>422 — include_summary not bool</a:t>
            </a:r>
          </a:p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FFFFFF"/>
                </a:solidFill>
              </a:rPr>
              <a:t>200 — all valid inputs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74320" y="4334256"/>
            <a:ext cx="5577840" cy="310896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5760" y="4370832"/>
            <a:ext cx="539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100" b="1" i="0">
                <a:solidFill>
                  <a:srgbClr val="FFFFFF"/>
                </a:solidFill>
              </a:rPr>
              <a:t>Middleware &amp; Features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74320" y="4645152"/>
            <a:ext cx="5577840" cy="1645920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84048" y="4709160"/>
            <a:ext cx="5358383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CORS enabled — any origin (configurable)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Automatic OpenAPI docs at /docs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Automatic Redoc docs at /redoc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Uvicorn ASGI server — async capable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app = FastAPI(title='Clinical Retrieval API')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Swagger UI for interactive testing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080760" y="4334256"/>
            <a:ext cx="5806440" cy="310896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172200" y="4370832"/>
            <a:ext cx="56235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100" b="1" i="0">
                <a:solidFill>
                  <a:srgbClr val="FFFFFF"/>
                </a:solidFill>
              </a:rPr>
              <a:t>Health Endpoint Response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080760" y="4645152"/>
            <a:ext cx="5806440" cy="1645920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190488" y="4709160"/>
            <a:ext cx="5586983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GET /health → 200 OK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{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  "status": "ok",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  "index_size": 4999,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  "document_count": 4999,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  "embedding_model":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    "all-MiniLM-L6-v2"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}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r"/>
            <a:r>
              <a:rPr sz="900" b="0" i="0">
                <a:solidFill>
                  <a:srgbClr val="55657A"/>
                </a:solidFill>
              </a:rPr>
              <a:t>18/30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A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2200" b="1" i="0">
                <a:solidFill>
                  <a:srgbClr val="FFFFFF"/>
                </a:solidFill>
              </a:rPr>
              <a:t>REST API: Full Request &amp; Response JSON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66928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300" b="0" i="0">
                <a:solidFill>
                  <a:srgbClr val="AACCDD"/>
                </a:solidFill>
              </a:rPr>
              <a:t>Complete field-by-field documentation with example values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078992"/>
            <a:ext cx="5577840" cy="5212080"/>
          </a:xfrm>
          <a:prstGeom prst="rect">
            <a:avLst/>
          </a:prstGeom>
          <a:solidFill>
            <a:srgbClr val="0A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152144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300" b="1" i="0">
                <a:solidFill>
                  <a:srgbClr val="007A87"/>
                </a:solidFill>
              </a:rPr>
              <a:t>Request Body (POST /retrieve)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463040"/>
            <a:ext cx="52120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{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  "query": "diabetic patient with kidney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            complications and elevated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            creatinine",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  "top_k": 5,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  "include_summary": true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}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/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Field details: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  query           required string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                  min_length=3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                  max_length=1000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                  natural language, any words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/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  top_k           optional integer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                  default=5, range 1–20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                  number of results to return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/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  include_summary optional boolean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                  default=true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                  false → skip Claude API call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                  useful for latency-sensitive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                  or offline deployments</a:t>
            </a:r>
          </a:p>
        </p:txBody>
      </p:sp>
      <p:sp>
        <p:nvSpPr>
          <p:cNvPr id="9" name="Rectangle 8"/>
          <p:cNvSpPr/>
          <p:nvPr/>
        </p:nvSpPr>
        <p:spPr>
          <a:xfrm>
            <a:off x="6080760" y="1078992"/>
            <a:ext cx="5806440" cy="5212080"/>
          </a:xfrm>
          <a:prstGeom prst="rect">
            <a:avLst/>
          </a:prstGeom>
          <a:solidFill>
            <a:srgbClr val="0D38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63640" y="1152144"/>
            <a:ext cx="5440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300" b="1" i="0">
                <a:solidFill>
                  <a:srgbClr val="007A87"/>
                </a:solidFill>
              </a:rPr>
              <a:t>Response Body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1463040"/>
            <a:ext cx="54406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{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  "query": "diabetic patient...",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  "total_retrieved": 5,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  "embedding_model":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    "sentence-transformers/all-MiniLM-L6-v2",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  "results": [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    {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      "rank": 1,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      "score": 0.9847,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      "specialty": "Nephrology",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      "sample_name": "CKD with Diabetes",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      "description": "CKD stage 3 in T2DM",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      "keywords": "CKD, creatinine, GFR",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      "transcription_excerpt":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        "62-year-old male with T2DM..."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    },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    { "rank": 2, "score": 0.9421, ... }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  ],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  "summary": "The retrieved notes present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    diabetic nephropathy... ⚠ Red flag: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    creatinine rise from 1.4 to 2.1..."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}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r"/>
            <a:r>
              <a:rPr sz="900" b="0" i="0">
                <a:solidFill>
                  <a:srgbClr val="55657A"/>
                </a:solidFill>
              </a:rPr>
              <a:t>19/30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A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2200" b="1" i="0">
                <a:solidFill>
                  <a:srgbClr val="FFFFFF"/>
                </a:solidFill>
              </a:rPr>
              <a:t>REST API: Configuration, Docker &amp; Deployment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66928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300" b="0" i="0">
                <a:solidFill>
                  <a:srgbClr val="AACCDD"/>
                </a:solidFill>
              </a:rPr>
              <a:t>Environment variables, Docker setup, and production notes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078992"/>
            <a:ext cx="11612880" cy="292608"/>
          </a:xfrm>
          <a:prstGeom prst="rect">
            <a:avLst/>
          </a:prstGeom>
          <a:solidFill>
            <a:srgbClr val="0A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115568"/>
            <a:ext cx="11247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100" b="1" i="0">
                <a:solidFill>
                  <a:srgbClr val="FFFFFF"/>
                </a:solidFill>
              </a:rPr>
              <a:t>Variable               Default                           Description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371600"/>
            <a:ext cx="11612880" cy="365760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142646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1" i="0">
                <a:solidFill>
                  <a:srgbClr val="007A87"/>
                </a:solidFill>
              </a:rPr>
              <a:t>EMBEDDING_MODEL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0" y="1426464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0" i="0">
                <a:solidFill>
                  <a:srgbClr val="0A294A"/>
                </a:solidFill>
              </a:rPr>
              <a:t>sentence-transformers/all-MiniLM-L6-v2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1426464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0" i="0">
                <a:solidFill>
                  <a:srgbClr val="0A294A"/>
                </a:solidFill>
              </a:rPr>
              <a:t>Hugging Face model name or local path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1737360"/>
            <a:ext cx="11612880" cy="365760"/>
          </a:xfrm>
          <a:prstGeom prst="rect">
            <a:avLst/>
          </a:prstGeom>
          <a:solidFill>
            <a:srgbClr val="E0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048" y="179222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1" i="0">
                <a:solidFill>
                  <a:srgbClr val="007A87"/>
                </a:solidFill>
              </a:rPr>
              <a:t>ANTHROPIC_API_KEY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26080" y="1792224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0" i="0">
                <a:solidFill>
                  <a:srgbClr val="0A294A"/>
                </a:solidFill>
              </a:rPr>
              <a:t>(empty)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1792224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0" i="0">
                <a:solidFill>
                  <a:srgbClr val="0A294A"/>
                </a:solidFill>
              </a:rPr>
              <a:t>Claude API key — LLM summary disabled if absent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2103120"/>
            <a:ext cx="11612880" cy="365760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84048" y="215798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1" i="0">
                <a:solidFill>
                  <a:srgbClr val="007A87"/>
                </a:solidFill>
              </a:rPr>
              <a:t>CLAUDE_MODEL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26080" y="2157984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0" i="0">
                <a:solidFill>
                  <a:srgbClr val="0A294A"/>
                </a:solidFill>
              </a:rPr>
              <a:t>claude-sonnet-4-6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2157984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0" i="0">
                <a:solidFill>
                  <a:srgbClr val="0A294A"/>
                </a:solidFill>
              </a:rPr>
              <a:t>Claude model for summarisation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2468880"/>
            <a:ext cx="11612880" cy="365760"/>
          </a:xfrm>
          <a:prstGeom prst="rect">
            <a:avLst/>
          </a:prstGeom>
          <a:solidFill>
            <a:srgbClr val="E0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84048" y="252374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1" i="0">
                <a:solidFill>
                  <a:srgbClr val="007A87"/>
                </a:solidFill>
              </a:rPr>
              <a:t>TOP_K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26080" y="2523744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0" i="0">
                <a:solidFill>
                  <a:srgbClr val="0A294A"/>
                </a:solidFill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0" y="2523744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0" i="0">
                <a:solidFill>
                  <a:srgbClr val="0A294A"/>
                </a:solidFill>
              </a:rPr>
              <a:t>Default number of results if not specified in request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" y="2834640"/>
            <a:ext cx="11612880" cy="365760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84048" y="288950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1" i="0">
                <a:solidFill>
                  <a:srgbClr val="007A87"/>
                </a:solidFill>
              </a:rPr>
              <a:t>INDEX_PATH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926080" y="2889504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0" i="0">
                <a:solidFill>
                  <a:srgbClr val="0A294A"/>
                </a:solidFill>
              </a:rPr>
              <a:t>data/faiss.index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0" y="2889504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0" i="0">
                <a:solidFill>
                  <a:srgbClr val="0A294A"/>
                </a:solidFill>
              </a:rPr>
              <a:t>Path to serialised FAISS index file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4320" y="3200400"/>
            <a:ext cx="11612880" cy="365760"/>
          </a:xfrm>
          <a:prstGeom prst="rect">
            <a:avLst/>
          </a:prstGeom>
          <a:solidFill>
            <a:srgbClr val="E0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84048" y="325526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1" i="0">
                <a:solidFill>
                  <a:srgbClr val="007A87"/>
                </a:solidFill>
              </a:rPr>
              <a:t>DATA_CSV_PATH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926080" y="3255264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0" i="0">
                <a:solidFill>
                  <a:srgbClr val="0A294A"/>
                </a:solidFill>
              </a:rPr>
              <a:t>data/mtsamples.csv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0" y="3255264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0" i="0">
                <a:solidFill>
                  <a:srgbClr val="0A294A"/>
                </a:solidFill>
              </a:rPr>
              <a:t>Path to raw CSV for ingest script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" y="3602736"/>
            <a:ext cx="5577840" cy="1572768"/>
          </a:xfrm>
          <a:prstGeom prst="rect">
            <a:avLst/>
          </a:prstGeom>
          <a:solidFill>
            <a:srgbClr val="0D38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7200" y="3675887"/>
            <a:ext cx="52120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200" b="1" i="0">
                <a:solidFill>
                  <a:srgbClr val="007A87"/>
                </a:solidFill>
              </a:rPr>
              <a:t>Docker Commands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3986784"/>
            <a:ext cx="5212079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FFFFFF"/>
                </a:solidFill>
              </a:rPr>
              <a:t>docker build -t clinic-retrieval .</a:t>
            </a:r>
          </a:p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FFFFFF"/>
                </a:solidFill>
              </a:rPr>
              <a:t>docker run -p 8000:8000 \</a:t>
            </a:r>
          </a:p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FFFFFF"/>
                </a:solidFill>
              </a:rPr>
              <a:t>  -e ANTHROPIC_API_KEY=sk-... \</a:t>
            </a:r>
          </a:p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FFFFFF"/>
                </a:solidFill>
              </a:rPr>
              <a:t>  -e EMBEDDING_MODEL=all-MiniLM-L6-v2 \</a:t>
            </a:r>
          </a:p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FFFFFF"/>
                </a:solidFill>
              </a:rPr>
              <a:t>  -v $(pwd)/data:/app/data \</a:t>
            </a:r>
          </a:p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FFFFFF"/>
                </a:solidFill>
              </a:rPr>
              <a:t>  clinic-retrieval</a:t>
            </a:r>
          </a:p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FFFFFF"/>
                </a:solidFill>
              </a:rPr>
              <a:t># API available at http://localhost:8000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080760" y="3602736"/>
            <a:ext cx="5806440" cy="1572768"/>
          </a:xfrm>
          <a:prstGeom prst="rect">
            <a:avLst/>
          </a:prstGeom>
          <a:solidFill>
            <a:srgbClr val="0D38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263640" y="3675887"/>
            <a:ext cx="54406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200" b="1" i="0">
                <a:solidFill>
                  <a:srgbClr val="007A87"/>
                </a:solidFill>
              </a:rPr>
              <a:t>Starting Locally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63640" y="3986784"/>
            <a:ext cx="5440679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FFFFFF"/>
                </a:solidFill>
              </a:rPr>
              <a:t>pip install -r requirements.txt</a:t>
            </a:r>
          </a:p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FFFFFF"/>
                </a:solidFill>
              </a:rPr>
              <a:t>python scripts/ingest.py --csv data/mtsamples.csv</a:t>
            </a:r>
          </a:p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FFFFFF"/>
                </a:solidFill>
              </a:rPr>
              <a:t>uvicorn app.main:app --reload --port 8000</a:t>
            </a:r>
          </a:p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FFFFFF"/>
                </a:solidFill>
              </a:rPr>
              <a:t># Demo mode (no CSV needed):</a:t>
            </a:r>
          </a:p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FFFFFF"/>
                </a:solidFill>
              </a:rPr>
              <a:t>python scripts/ingest.py --sample</a:t>
            </a:r>
          </a:p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FFFFFF"/>
                </a:solidFill>
              </a:rPr>
              <a:t># Then query:</a:t>
            </a:r>
          </a:p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FFFFFF"/>
                </a:solidFill>
              </a:rPr>
              <a:t>curl -X POST http://localhost:8000/retrieve \</a:t>
            </a:r>
          </a:p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FFFFFF"/>
                </a:solidFill>
              </a:rPr>
              <a:t>  -d '{"query":"CKD","top_k":3}'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74320" y="5321808"/>
            <a:ext cx="5577840" cy="310896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65760" y="5358384"/>
            <a:ext cx="539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100" b="1" i="0">
                <a:solidFill>
                  <a:srgbClr val="FFFFFF"/>
                </a:solidFill>
              </a:rPr>
              <a:t>Production Notes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74320" y="5632704"/>
            <a:ext cx="5577840" cy="658368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84048" y="5696712"/>
            <a:ext cx="5358383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Set ANTHROPIC_API_KEY for LLM summaries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CORS origins configurable in app/main.py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Uvicorn workers: --workers 4 for production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Auth layer (JWT) recommended before exposing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080760" y="5321808"/>
            <a:ext cx="5806440" cy="310896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172200" y="5358384"/>
            <a:ext cx="56235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100" b="1" i="0">
                <a:solidFill>
                  <a:srgbClr val="FFFFFF"/>
                </a:solidFill>
              </a:rPr>
              <a:t>Dockerfile Highlights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080760" y="5632704"/>
            <a:ext cx="5806440" cy="658368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190488" y="5696712"/>
            <a:ext cx="5586983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Multi-stage build — no dev dependencies in image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Base: python:3.11-slim (~180 MB final image)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COPY requirements.txt → pip install → COPY app/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ENTRYPOINT uvicorn app.main:app --host 0.0.0.0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r"/>
            <a:r>
              <a:rPr sz="900" b="0" i="0">
                <a:solidFill>
                  <a:srgbClr val="55657A"/>
                </a:solidFill>
              </a:rPr>
              <a:t>20/30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A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2200" b="1" i="0">
                <a:solidFill>
                  <a:srgbClr val="FFFFFF"/>
                </a:solidFill>
              </a:rPr>
              <a:t>Evaluation: Metrics &amp; Thresholds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66928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300" b="0" i="0">
                <a:solidFill>
                  <a:srgbClr val="AACCDD"/>
                </a:solidFill>
              </a:rPr>
              <a:t>Four metrics measuring semantic retrieval quality — not keyword matching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078992"/>
            <a:ext cx="2743200" cy="5212080"/>
          </a:xfrm>
          <a:prstGeom prst="rect">
            <a:avLst/>
          </a:prstGeom>
          <a:solidFill>
            <a:srgbClr val="0D38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1152144"/>
            <a:ext cx="252374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000" b="1" i="0">
                <a:solidFill>
                  <a:srgbClr val="007A87"/>
                </a:solidFill>
              </a:rPr>
              <a:t>Precision@k (Specialty)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" y="1444752"/>
            <a:ext cx="2523744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0" i="0">
                <a:solidFill>
                  <a:srgbClr val="FFFFFF"/>
                </a:solidFill>
              </a:rPr>
              <a:t>Fraction of top-k retrieved results whose medical_specialty matches the expected clinical domain for the query.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" y="2496312"/>
            <a:ext cx="252374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000" b="1" i="0">
                <a:solidFill>
                  <a:srgbClr val="007A87"/>
                </a:solidFill>
              </a:rPr>
              <a:t>Thresholds: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" y="2788920"/>
            <a:ext cx="2523744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CCDDFF"/>
                </a:solidFill>
              </a:rPr>
              <a:t>&gt; 0.80 = good</a:t>
            </a:r>
          </a:p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CCDDFF"/>
                </a:solidFill>
              </a:rPr>
              <a:t>= 1.00 = perfect</a:t>
            </a:r>
          </a:p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CCDDFF"/>
                </a:solidFill>
              </a:rPr>
              <a:t>&lt; 0.50 = poor</a:t>
            </a:r>
          </a:p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CCDDFF"/>
                </a:solidFill>
              </a:rPr>
              <a:t>Threshold used: Precision@1 for 5 queries</a:t>
            </a:r>
          </a:p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CCDDFF"/>
                </a:solidFill>
              </a:rPr>
              <a:t>Requires: specialty ground truth labels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" y="4572000"/>
            <a:ext cx="252374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000" b="1" i="0">
                <a:solidFill>
                  <a:srgbClr val="007A87"/>
                </a:solidFill>
              </a:rPr>
              <a:t>This System: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" y="4864607"/>
            <a:ext cx="252374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600" b="1" i="0">
                <a:solidFill>
                  <a:srgbClr val="00875A"/>
                </a:solidFill>
              </a:rPr>
              <a:t>1.0 / 1.0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55263" y="1078992"/>
            <a:ext cx="2743200" cy="5212080"/>
          </a:xfrm>
          <a:prstGeom prst="rect">
            <a:avLst/>
          </a:prstGeom>
          <a:solidFill>
            <a:srgbClr val="0D38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64991" y="1152144"/>
            <a:ext cx="252374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000" b="1" i="0">
                <a:solidFill>
                  <a:srgbClr val="007A87"/>
                </a:solidFill>
              </a:rPr>
              <a:t>Keyword Recall@k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64991" y="1444752"/>
            <a:ext cx="2523744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0" i="0">
                <a:solidFill>
                  <a:srgbClr val="FFFFFF"/>
                </a:solidFill>
              </a:rPr>
              <a:t>Fraction of top-k results containing at least one domain-specific clinical term from the query's target domain.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64991" y="2496312"/>
            <a:ext cx="252374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000" b="1" i="0">
                <a:solidFill>
                  <a:srgbClr val="007A87"/>
                </a:solidFill>
              </a:rPr>
              <a:t>Thresholds: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64991" y="2788920"/>
            <a:ext cx="2523744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CCDDFF"/>
                </a:solidFill>
              </a:rPr>
              <a:t>&gt; 0.60 = acceptable</a:t>
            </a:r>
          </a:p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CCDDFF"/>
                </a:solidFill>
              </a:rPr>
              <a:t>&gt; 0.80 = good</a:t>
            </a:r>
          </a:p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CCDDFF"/>
                </a:solidFill>
              </a:rPr>
              <a:t>Threshold used: Recall@5</a:t>
            </a:r>
          </a:p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CCDDFF"/>
                </a:solidFill>
              </a:rPr>
              <a:t>Requires: per-specialty keyword list</a:t>
            </a:r>
          </a:p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CCDDFF"/>
                </a:solidFill>
              </a:rPr>
              <a:t>Tests: clinical vocabulary coverage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64991" y="4572000"/>
            <a:ext cx="252374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000" b="1" i="0">
                <a:solidFill>
                  <a:srgbClr val="007A87"/>
                </a:solidFill>
              </a:rPr>
              <a:t>This System: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64991" y="4864607"/>
            <a:ext cx="252374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600" b="1" i="0">
                <a:solidFill>
                  <a:srgbClr val="00875A"/>
                </a:solidFill>
              </a:rPr>
              <a:t>1.0 / 1.0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36207" y="1078992"/>
            <a:ext cx="2743200" cy="5212080"/>
          </a:xfrm>
          <a:prstGeom prst="rect">
            <a:avLst/>
          </a:prstGeom>
          <a:solidFill>
            <a:srgbClr val="0D38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45936" y="1152144"/>
            <a:ext cx="252374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000" b="1" i="0">
                <a:solidFill>
                  <a:srgbClr val="007A87"/>
                </a:solidFill>
              </a:rPr>
              <a:t>Mean Cosine Score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45936" y="1444752"/>
            <a:ext cx="2523744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0" i="0">
                <a:solidFill>
                  <a:srgbClr val="FFFFFF"/>
                </a:solidFill>
              </a:rPr>
              <a:t>Average cosine similarity score across all top-k results for a given query. Higher = model more confident.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45936" y="2496312"/>
            <a:ext cx="252374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000" b="1" i="0">
                <a:solidFill>
                  <a:srgbClr val="007A87"/>
                </a:solidFill>
              </a:rPr>
              <a:t>Thresholds: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45936" y="2788920"/>
            <a:ext cx="2523744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CCDDFF"/>
                </a:solidFill>
              </a:rPr>
              <a:t>&gt; 0.60 = confident retrieval</a:t>
            </a:r>
          </a:p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CCDDFF"/>
                </a:solidFill>
              </a:rPr>
              <a:t>&gt; 0.80 = high confidence</a:t>
            </a:r>
          </a:p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CCDDFF"/>
                </a:solidFill>
              </a:rPr>
              <a:t>Mean rank-1 (5 queries): 0.980</a:t>
            </a:r>
          </a:p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CCDDFF"/>
                </a:solidFill>
              </a:rPr>
              <a:t>Range: 0.946 – 1.000</a:t>
            </a:r>
          </a:p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CCDDFF"/>
                </a:solidFill>
              </a:rPr>
              <a:t>Low mean = ambiguous query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45936" y="4572000"/>
            <a:ext cx="252374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000" b="1" i="0">
                <a:solidFill>
                  <a:srgbClr val="007A87"/>
                </a:solidFill>
              </a:rPr>
              <a:t>This System: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45936" y="4864607"/>
            <a:ext cx="252374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600" b="1" i="0">
                <a:solidFill>
                  <a:srgbClr val="00875A"/>
                </a:solidFill>
              </a:rPr>
              <a:t>0.980 avg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217152" y="1078992"/>
            <a:ext cx="2743200" cy="5212080"/>
          </a:xfrm>
          <a:prstGeom prst="rect">
            <a:avLst/>
          </a:prstGeom>
          <a:solidFill>
            <a:srgbClr val="0D38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326880" y="1152144"/>
            <a:ext cx="252374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000" b="1" i="0">
                <a:solidFill>
                  <a:srgbClr val="007A87"/>
                </a:solidFill>
              </a:rPr>
              <a:t>Score Spread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26880" y="1444752"/>
            <a:ext cx="2523744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0" i="0">
                <a:solidFill>
                  <a:srgbClr val="FFFFFF"/>
                </a:solidFill>
              </a:rPr>
              <a:t>Gap between rank-1 and rank-k score. Large spread means the top result is clearly better than the rest.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26880" y="2496312"/>
            <a:ext cx="252374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000" b="1" i="0">
                <a:solidFill>
                  <a:srgbClr val="007A87"/>
                </a:solidFill>
              </a:rPr>
              <a:t>Thresholds: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26880" y="2788920"/>
            <a:ext cx="2523744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CCDDFF"/>
                </a:solidFill>
              </a:rPr>
              <a:t>&gt; 0.10 = well-separated</a:t>
            </a:r>
          </a:p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CCDDFF"/>
                </a:solidFill>
              </a:rPr>
              <a:t>&gt; 0.20 = very clear top</a:t>
            </a:r>
          </a:p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CCDDFF"/>
                </a:solidFill>
              </a:rPr>
              <a:t>Small spread = tie at top</a:t>
            </a:r>
          </a:p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CCDDFF"/>
                </a:solidFill>
              </a:rPr>
              <a:t>Indicates disambiguation quality</a:t>
            </a:r>
          </a:p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CCDDFF"/>
                </a:solidFill>
              </a:rPr>
              <a:t>Useful for UX confidence display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26880" y="4572000"/>
            <a:ext cx="252374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000" b="1" i="0">
                <a:solidFill>
                  <a:srgbClr val="007A87"/>
                </a:solidFill>
              </a:rPr>
              <a:t>This System: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26880" y="4864607"/>
            <a:ext cx="252374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600" b="1" i="0">
                <a:solidFill>
                  <a:srgbClr val="00875A"/>
                </a:solidFill>
              </a:rPr>
              <a:t>&gt; 0.10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r"/>
            <a:r>
              <a:rPr sz="900" b="0" i="0">
                <a:solidFill>
                  <a:srgbClr val="55657A"/>
                </a:solidFill>
              </a:rPr>
              <a:t>21/30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A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2200" b="1" i="0">
                <a:solidFill>
                  <a:srgbClr val="FFFFFF"/>
                </a:solidFill>
              </a:rPr>
              <a:t>Evaluation: 5 Semantic Proof Queries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66928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300" b="0" i="0">
                <a:solidFill>
                  <a:srgbClr val="AACCDD"/>
                </a:solidFill>
              </a:rPr>
              <a:t>All 5 queries designed with zero vocabulary overlap with target documents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078992"/>
            <a:ext cx="11612880" cy="658368"/>
          </a:xfrm>
          <a:prstGeom prst="rect">
            <a:avLst/>
          </a:prstGeom>
          <a:solidFill>
            <a:srgbClr val="0A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152144"/>
            <a:ext cx="112471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200" b="1" i="0">
                <a:solidFill>
                  <a:srgbClr val="007A87"/>
                </a:solidFill>
              </a:rPr>
              <a:t>Test Design Principle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463039"/>
            <a:ext cx="11247119" cy="2011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200"/>
              </a:spcBef>
            </a:pPr>
            <a:r>
              <a:rPr sz="1000" b="0" i="0">
                <a:solidFill>
                  <a:srgbClr val="FFFFFF"/>
                </a:solidFill>
              </a:rPr>
              <a:t>Each query is deliberately paraphrased so it shares NO tokens with the target document. A BM25 or TF-IDF keyword matcher returns empty results for every query. The embedding system returns the clinically correct specialty as rank 1 for all 5. Precision@1 = 1.0.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1883664"/>
            <a:ext cx="11612880" cy="292608"/>
          </a:xfrm>
          <a:prstGeom prst="rect">
            <a:avLst/>
          </a:prstGeom>
          <a:solidFill>
            <a:srgbClr val="0A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920240"/>
            <a:ext cx="11247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100" b="1" i="0">
                <a:solidFill>
                  <a:srgbClr val="FFFFFF"/>
                </a:solidFill>
              </a:rPr>
              <a:t>Query (paraphrased — zero token overlap)          Target Specialty   Score  Recall  Precision  Correct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2176272"/>
            <a:ext cx="11612880" cy="438912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84048" y="2249424"/>
            <a:ext cx="5120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0" i="0">
                <a:solidFill>
                  <a:srgbClr val="0A294A"/>
                </a:solidFill>
              </a:rPr>
              <a:t>Renal insufficiency in type 2 diabetes mellitus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50992" y="2249424"/>
            <a:ext cx="25603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1" i="0">
                <a:solidFill>
                  <a:srgbClr val="007A87"/>
                </a:solidFill>
              </a:rPr>
              <a:t>Nephrology / CKD + DM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2249424"/>
            <a:ext cx="640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1" i="0">
                <a:solidFill>
                  <a:srgbClr val="00875A"/>
                </a:solidFill>
              </a:rPr>
              <a:t>0.985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98280" y="2249424"/>
            <a:ext cx="502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1" i="0">
                <a:solidFill>
                  <a:srgbClr val="00875A"/>
                </a:solidFill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92640" y="2249424"/>
            <a:ext cx="502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1" i="0">
                <a:solidFill>
                  <a:srgbClr val="00875A"/>
                </a:solidFill>
              </a:rPr>
              <a:t>1.0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87000" y="2249424"/>
            <a:ext cx="502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1" i="0">
                <a:solidFill>
                  <a:srgbClr val="00875A"/>
                </a:solidFill>
              </a:rPr>
              <a:t>✓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2615184"/>
            <a:ext cx="11612880" cy="438912"/>
          </a:xfrm>
          <a:prstGeom prst="rect">
            <a:avLst/>
          </a:prstGeom>
          <a:solidFill>
            <a:srgbClr val="E0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84048" y="2688336"/>
            <a:ext cx="5120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0" i="0">
                <a:solidFill>
                  <a:srgbClr val="0A294A"/>
                </a:solidFill>
              </a:rPr>
              <a:t>Blood glucose crisis requiring intravenous insulin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50992" y="2688336"/>
            <a:ext cx="25603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1" i="0">
                <a:solidFill>
                  <a:srgbClr val="007A87"/>
                </a:solidFill>
              </a:rPr>
              <a:t>Endocrinology / DKA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66760" y="2688336"/>
            <a:ext cx="640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1" i="0">
                <a:solidFill>
                  <a:srgbClr val="00875A"/>
                </a:solidFill>
              </a:rPr>
              <a:t>0.946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98280" y="2688336"/>
            <a:ext cx="502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1" i="0">
                <a:solidFill>
                  <a:srgbClr val="00875A"/>
                </a:solidFill>
              </a:rP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92640" y="2688336"/>
            <a:ext cx="502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1" i="0">
                <a:solidFill>
                  <a:srgbClr val="00875A"/>
                </a:solidFill>
              </a:rPr>
              <a:t>1.0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87000" y="2688336"/>
            <a:ext cx="502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1" i="0">
                <a:solidFill>
                  <a:srgbClr val="00875A"/>
                </a:solidFill>
              </a:rPr>
              <a:t>✓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3054096"/>
            <a:ext cx="11612880" cy="438912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84048" y="3127248"/>
            <a:ext cx="5120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0" i="0">
                <a:solidFill>
                  <a:srgbClr val="0A294A"/>
                </a:solidFill>
              </a:rPr>
              <a:t>Patient with COPD and decreased O2 needing bronchodilation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50992" y="3127248"/>
            <a:ext cx="25603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1" i="0">
                <a:solidFill>
                  <a:srgbClr val="007A87"/>
                </a:solidFill>
              </a:rPr>
              <a:t>Pulmonology / COPD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66760" y="3127248"/>
            <a:ext cx="640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1" i="0">
                <a:solidFill>
                  <a:srgbClr val="00875A"/>
                </a:solidFill>
              </a:rPr>
              <a:t>0.987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98280" y="3127248"/>
            <a:ext cx="502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1" i="0">
                <a:solidFill>
                  <a:srgbClr val="00875A"/>
                </a:solidFill>
              </a:rPr>
              <a:t>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92640" y="3127248"/>
            <a:ext cx="502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1" i="0">
                <a:solidFill>
                  <a:srgbClr val="00875A"/>
                </a:solidFill>
              </a:rPr>
              <a:t>1.0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287000" y="3127248"/>
            <a:ext cx="502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1" i="0">
                <a:solidFill>
                  <a:srgbClr val="00875A"/>
                </a:solidFill>
              </a:rPr>
              <a:t>✓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" y="3493008"/>
            <a:ext cx="11612880" cy="438912"/>
          </a:xfrm>
          <a:prstGeom prst="rect">
            <a:avLst/>
          </a:prstGeom>
          <a:solidFill>
            <a:srgbClr val="E0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84048" y="3566160"/>
            <a:ext cx="5120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0" i="0">
                <a:solidFill>
                  <a:srgbClr val="0A294A"/>
                </a:solidFill>
              </a:rPr>
              <a:t>Post-operative knee arthroplasty physiotherapy rehab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50992" y="3566160"/>
            <a:ext cx="25603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1" i="0">
                <a:solidFill>
                  <a:srgbClr val="007A87"/>
                </a:solidFill>
              </a:rPr>
              <a:t>Orthopaedics / TKR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66760" y="3566160"/>
            <a:ext cx="640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1" i="0">
                <a:solidFill>
                  <a:srgbClr val="00875A"/>
                </a:solidFill>
              </a:rPr>
              <a:t>1.000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098280" y="3566160"/>
            <a:ext cx="502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1" i="0">
                <a:solidFill>
                  <a:srgbClr val="00875A"/>
                </a:solidFill>
              </a:rPr>
              <a:t>✓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92640" y="3566160"/>
            <a:ext cx="502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1" i="0">
                <a:solidFill>
                  <a:srgbClr val="00875A"/>
                </a:solidFill>
              </a:rPr>
              <a:t>1.0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287000" y="3566160"/>
            <a:ext cx="502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1" i="0">
                <a:solidFill>
                  <a:srgbClr val="00875A"/>
                </a:solidFill>
              </a:rPr>
              <a:t>✓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74320" y="3931920"/>
            <a:ext cx="11612880" cy="438912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84048" y="4005072"/>
            <a:ext cx="5120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0" i="0">
                <a:solidFill>
                  <a:srgbClr val="0A294A"/>
                </a:solidFill>
              </a:rPr>
              <a:t>Crushing left-arm pain with elevated troponin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50992" y="4005072"/>
            <a:ext cx="25603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1" i="0">
                <a:solidFill>
                  <a:srgbClr val="007A87"/>
                </a:solidFill>
              </a:rPr>
              <a:t>Cardiology / Chest Pain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66760" y="4005072"/>
            <a:ext cx="640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1" i="0">
                <a:solidFill>
                  <a:srgbClr val="00875A"/>
                </a:solidFill>
              </a:rPr>
              <a:t>0.980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098280" y="4005072"/>
            <a:ext cx="502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1" i="0">
                <a:solidFill>
                  <a:srgbClr val="00875A"/>
                </a:solidFill>
              </a:rPr>
              <a:t>✓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92640" y="4005072"/>
            <a:ext cx="502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1" i="0">
                <a:solidFill>
                  <a:srgbClr val="00875A"/>
                </a:solidFill>
              </a:rPr>
              <a:t>1.0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287000" y="4005072"/>
            <a:ext cx="502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1" i="0">
                <a:solidFill>
                  <a:srgbClr val="00875A"/>
                </a:solidFill>
              </a:rPr>
              <a:t>✓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74320" y="4407408"/>
            <a:ext cx="11612880" cy="969264"/>
          </a:xfrm>
          <a:prstGeom prst="rect">
            <a:avLst/>
          </a:prstGeom>
          <a:solidFill>
            <a:srgbClr val="0D38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57200" y="4480560"/>
            <a:ext cx="112471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200" b="1" i="0">
                <a:solidFill>
                  <a:srgbClr val="007A87"/>
                </a:solidFill>
              </a:rPr>
              <a:t>Why 1.000 for TKR and 0.946 for DKA?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57200" y="4791456"/>
            <a:ext cx="11247119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200"/>
              </a:spcBef>
            </a:pPr>
            <a:r>
              <a:rPr sz="1000" b="0" i="0">
                <a:solidFill>
                  <a:srgbClr val="FFFFFF"/>
                </a:solidFill>
              </a:rPr>
              <a:t>TKR (1.000): Post-operative knee rehabilitation is a highly specific clinical domain with few competing documents. The query vocabulary is unambiguous.</a:t>
            </a:r>
          </a:p>
          <a:p>
            <a:pPr algn="l">
              <a:spcBef>
                <a:spcPts val="200"/>
              </a:spcBef>
            </a:pPr>
            <a:r>
              <a:rPr sz="1000" b="0" i="0">
                <a:solidFill>
                  <a:srgbClr val="FFFFFF"/>
                </a:solidFill>
              </a:rPr>
              <a:t>DKA (0.946 — lowest): Genuine semantic ambiguity between endocrine emergency notes and general internal medicine notes containing glucose management. This is clinically reasonable, not a system failure.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74320" y="5522976"/>
            <a:ext cx="5577840" cy="310896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65760" y="5559552"/>
            <a:ext cx="539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100" b="1" i="0">
                <a:solidFill>
                  <a:srgbClr val="FFFFFF"/>
                </a:solidFill>
              </a:rPr>
              <a:t>Running Evaluation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74320" y="5833872"/>
            <a:ext cx="5577840" cy="457199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84048" y="5897880"/>
            <a:ext cx="5358383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python scripts/evaluate.py --sample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python scripts/evaluate.py --csv data/mtsamples.csv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python scripts/evaluate.py --compare-models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080760" y="5522976"/>
            <a:ext cx="5806440" cy="310896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172200" y="5559552"/>
            <a:ext cx="56235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100" b="1" i="0">
                <a:solidFill>
                  <a:srgbClr val="FFFFFF"/>
                </a:solidFill>
              </a:rPr>
              <a:t>What Gets Measured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080760" y="5833872"/>
            <a:ext cx="5806440" cy="457199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190488" y="5897880"/>
            <a:ext cx="5586983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Precision@k per query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Keyword recall@k per query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Mean cosine score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Score spread rank-1 to rank-k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r"/>
            <a:r>
              <a:rPr sz="900" b="0" i="0">
                <a:solidFill>
                  <a:srgbClr val="55657A"/>
                </a:solidFill>
              </a:rPr>
              <a:t>22/30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A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2200" b="1" i="0">
                <a:solidFill>
                  <a:srgbClr val="FFFFFF"/>
                </a:solidFill>
              </a:rPr>
              <a:t>Evaluation: Semantic vs Keyword Search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66928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300" b="0" i="0">
                <a:solidFill>
                  <a:srgbClr val="AACCDD"/>
                </a:solidFill>
              </a:rPr>
              <a:t>Side-by-side comparison proving embedding retrieval beats BM25/TF-IDF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078992"/>
            <a:ext cx="11612880" cy="640080"/>
          </a:xfrm>
          <a:prstGeom prst="rect">
            <a:avLst/>
          </a:prstGeom>
          <a:solidFill>
            <a:srgbClr val="0A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152144"/>
            <a:ext cx="112471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200" b="1" i="0">
                <a:solidFill>
                  <a:srgbClr val="007A87"/>
                </a:solidFill>
              </a:rPr>
              <a:t>The Core Claim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463039"/>
            <a:ext cx="11247119" cy="1828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200"/>
              </a:spcBef>
            </a:pPr>
            <a:r>
              <a:rPr sz="1000" b="0" i="0">
                <a:solidFill>
                  <a:srgbClr val="FFFFFF"/>
                </a:solidFill>
              </a:rPr>
              <a:t>Query: "renal insufficiency in type 2 diabetes mellitus". Target document uses: "CKD", "chronic kidney disease", "nephropathy", "GFR", "creatinine". ZERO shared tokens. Keyword search returns nothing. Embedding returns rank-1 Nephrology with score=0.985.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1865376"/>
            <a:ext cx="5577840" cy="274320"/>
          </a:xfrm>
          <a:prstGeom prst="rect">
            <a:avLst/>
          </a:prstGeom>
          <a:solidFill>
            <a:srgbClr val="0A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080760" y="1865376"/>
            <a:ext cx="5806440" cy="274320"/>
          </a:xfrm>
          <a:prstGeom prst="rect">
            <a:avLst/>
          </a:prstGeom>
          <a:solidFill>
            <a:srgbClr val="0A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901952"/>
            <a:ext cx="52120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100" b="1" i="0">
                <a:solidFill>
                  <a:srgbClr val="FFFFFF"/>
                </a:solidFill>
              </a:rPr>
              <a:t>BM25 / TF-IDF Keyword Search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40" y="1901952"/>
            <a:ext cx="54406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100" b="1" i="0">
                <a:solidFill>
                  <a:srgbClr val="FFFFFF"/>
                </a:solidFill>
              </a:rPr>
              <a:t>Dense Embedding Retrieval (this system)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2139696"/>
            <a:ext cx="5577840" cy="4151376"/>
          </a:xfrm>
          <a:prstGeom prst="rect">
            <a:avLst/>
          </a:prstGeom>
          <a:solidFill>
            <a:srgbClr val="3A10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2212848"/>
            <a:ext cx="5212080" cy="4005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FFBBBB"/>
                </a:solidFill>
              </a:rPr>
              <a:t>Query: 'renal insufficiency in T2DM'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FFBBBB"/>
                </a:solidFill>
              </a:rPr>
              <a:t/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FFBBBB"/>
                </a:solidFill>
              </a:rPr>
              <a:t>BM25 tokenises: ['renal','insufficiency',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FFBBBB"/>
                </a:solidFill>
              </a:rPr>
              <a:t>  'in','T2DM']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FFBBBB"/>
                </a:solidFill>
              </a:rPr>
              <a:t>Searches inverted index for each token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FFBBBB"/>
                </a:solidFill>
              </a:rPr>
              <a:t/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FFBBBB"/>
                </a:solidFill>
              </a:rPr>
              <a:t>'renal' → 3 matches (not CKD notes)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FFBBBB"/>
                </a:solidFill>
              </a:rPr>
              <a:t>'T2DM' → 0 exact matches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FFBBBB"/>
                </a:solidFill>
              </a:rPr>
              <a:t>'insufficiency' → 1 match (non-clinical)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FFBBBB"/>
                </a:solidFill>
              </a:rPr>
              <a:t/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FFBBBB"/>
                </a:solidFill>
              </a:rPr>
              <a:t>RESULT: 0 or 1 irrelevant results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FFBBBB"/>
                </a:solidFill>
              </a:rPr>
              <a:t>Nephrology CKD notes: NOT RETURNED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FFBBBB"/>
                </a:solidFill>
              </a:rPr>
              <a:t/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FFBBBB"/>
                </a:solidFill>
              </a:rPr>
              <a:t>Fails because: 'CKD', 'nephropathy',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FFBBBB"/>
                </a:solidFill>
              </a:rPr>
              <a:t>'GFR', 'creatinine' not in query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80760" y="2139696"/>
            <a:ext cx="5806440" cy="4151376"/>
          </a:xfrm>
          <a:prstGeom prst="rect">
            <a:avLst/>
          </a:prstGeom>
          <a:solidFill>
            <a:srgbClr val="08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2212848"/>
            <a:ext cx="5440680" cy="4005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BBFFCC"/>
                </a:solidFill>
              </a:rPr>
              <a:t>Query: 'renal insufficiency in T2DM'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BBFFCC"/>
                </a:solidFill>
              </a:rPr>
              <a:t/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BBFFCC"/>
                </a:solidFill>
              </a:rPr>
              <a:t>model.encode(query) → float32[384]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BBFFCC"/>
                </a:solidFill>
              </a:rPr>
              <a:t>  (semantic meaning, not tokens)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BBFFCC"/>
                </a:solidFill>
              </a:rPr>
              <a:t>faiss.search(vec, k)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BBFFCC"/>
                </a:solidFill>
              </a:rPr>
              <a:t>  → cosine similarity to ALL docs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BBFFCC"/>
                </a:solidFill>
              </a:rPr>
              <a:t/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BBFFCC"/>
                </a:solidFill>
              </a:rPr>
              <a:t>Results: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BBFFCC"/>
                </a:solidFill>
              </a:rPr>
              <a:t>  Rank 1: Nephrology/CKD  score=0.985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BBFFCC"/>
                </a:solidFill>
              </a:rPr>
              <a:t>  Rank 2: Nephrology/CKD  score=0.941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BBFFCC"/>
                </a:solidFill>
              </a:rPr>
              <a:t>  Rank 3: Endocrine/DM    score=0.912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BBFFCC"/>
                </a:solidFill>
              </a:rPr>
              <a:t/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BBFFCC"/>
                </a:solidFill>
              </a:rPr>
              <a:t>RESULT: Clinically correct, all 5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BBFFCC"/>
                </a:solidFill>
              </a:rPr>
              <a:t>Nephrology CKD notes: RETURNED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BBFFCC"/>
                </a:solidFill>
              </a:rPr>
              <a:t/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BBFFCC"/>
                </a:solidFill>
              </a:rPr>
              <a:t>Succeeds because: embedding encodes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BBFFCC"/>
                </a:solidFill>
              </a:rPr>
              <a:t>meaning not tokens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6345936"/>
            <a:ext cx="5577840" cy="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74320" y="6035040"/>
            <a:ext cx="5577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000" b="1" i="0">
                <a:solidFill>
                  <a:srgbClr val="C0392B"/>
                </a:solidFill>
              </a:rPr>
              <a:t>✗  0 correct results for vocabulary-paraphrased queries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80760" y="6035040"/>
            <a:ext cx="5806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000" b="1" i="0">
                <a:solidFill>
                  <a:srgbClr val="00875A"/>
                </a:solidFill>
              </a:rPr>
              <a:t>✓  Precision@1 = 1.0 across all 5 paraphrased queries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r"/>
            <a:r>
              <a:rPr sz="900" b="0" i="0">
                <a:solidFill>
                  <a:srgbClr val="55657A"/>
                </a:solidFill>
              </a:rPr>
              <a:t>23/30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A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2200" b="1" i="0">
                <a:solidFill>
                  <a:srgbClr val="FFFFFF"/>
                </a:solidFill>
              </a:rPr>
              <a:t>Fine-Tuning: Approach &amp; Implementation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66928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300" b="0" i="0">
                <a:solidFill>
                  <a:srgbClr val="AACCDD"/>
                </a:solidFill>
              </a:rPr>
              <a:t>Optional — documented as required by exam; +5–15% precision expected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078992"/>
            <a:ext cx="11612880" cy="640080"/>
          </a:xfrm>
          <a:prstGeom prst="rect">
            <a:avLst/>
          </a:prstGeom>
          <a:solidFill>
            <a:srgbClr val="0A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152144"/>
            <a:ext cx="112471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200" b="1" i="0">
                <a:solidFill>
                  <a:srgbClr val="007A87"/>
                </a:solidFill>
              </a:rPr>
              <a:t>Why Fine-Tune?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463039"/>
            <a:ext cx="11247119" cy="1828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200"/>
              </a:spcBef>
            </a:pPr>
            <a:r>
              <a:rPr sz="1000" b="0" i="0">
                <a:solidFill>
                  <a:srgbClr val="FFFFFF"/>
                </a:solidFill>
              </a:rPr>
              <a:t>Base all-MiniLM-L6-v2 is general-purpose. Fine-tuning on mtsamples corpus vocabulary makes it domain-specific. Expected gain: +5–15% Precision@k on clinical paraphrase queries, especially biomedical abbreviation disambiguation (CKD/renal failure, DKA/ketoacidosis). Exam marks this as recognised strength.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1865376"/>
            <a:ext cx="5577840" cy="310896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901952"/>
            <a:ext cx="539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100" b="1" i="0">
                <a:solidFill>
                  <a:srgbClr val="FFFFFF"/>
                </a:solidFill>
              </a:rPr>
              <a:t>Triplet Generation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2176272"/>
            <a:ext cx="5577840" cy="1773935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84048" y="2240279"/>
            <a:ext cx="5358383" cy="16824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Source: specialty labels as free supervision signal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/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Triplet = (anchor, positive, negative):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  Anchor: synthetic query from description field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  Positive: note from SAME specialty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  Negative: note from DIFFERENT specialty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/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Generator: scripts/generate_triplets.py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  --csv data/mtsamples.csv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  --out data/triplets.jsonl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  ~20 000 triplets from 5 000 notes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  5× augmentation per note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80760" y="1865376"/>
            <a:ext cx="5806440" cy="310896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72200" y="1901952"/>
            <a:ext cx="56235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100" b="1" i="0">
                <a:solidFill>
                  <a:srgbClr val="FFFFFF"/>
                </a:solidFill>
              </a:rPr>
              <a:t>Training Configuration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80760" y="2176272"/>
            <a:ext cx="5806440" cy="1773935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90488" y="2240279"/>
            <a:ext cx="5586983" cy="16824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Library: sentence-transformers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Loss: MultipleNegativesRankingLoss (MNRL)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  • Treats all other positives in batch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    as implicit negatives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  • Directly optimises ranking objective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  • Well-suited to retrieval tasks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/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Batch size: 64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Epochs: 3–5 (early stop on dev set)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Learning rate: 2e-5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Warmup steps: 10% of total steps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Hardware: A100 GPU, ~2 hours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4096512"/>
            <a:ext cx="11612880" cy="1316736"/>
          </a:xfrm>
          <a:prstGeom prst="rect">
            <a:avLst/>
          </a:prstGeom>
          <a:solidFill>
            <a:srgbClr val="0D38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169663"/>
            <a:ext cx="11247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200" b="1" i="0">
                <a:solidFill>
                  <a:srgbClr val="007A87"/>
                </a:solidFill>
              </a:rPr>
              <a:t>Training Script Steps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4462272"/>
            <a:ext cx="11247120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FFFFFF"/>
                </a:solidFill>
              </a:rPr>
              <a:t>1.  python scripts/generate_triplets.py --csv data/mtsamples.csv --out data/triplets.jsonl</a:t>
            </a:r>
          </a:p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FFFFFF"/>
                </a:solidFill>
              </a:rPr>
              <a:t>2.  python scripts/finetune.py --base all-MiniLM-L6-v2 --triplets data/triplets.jsonl --out models/clinical-minilm</a:t>
            </a:r>
          </a:p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FFFFFF"/>
                </a:solidFill>
              </a:rPr>
              <a:t>3.  EMBEDDING_MODEL=models/clinical-minilm python scripts/ingest.py --csv data/mtsamples.csv</a:t>
            </a:r>
          </a:p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FFFFFF"/>
                </a:solidFill>
              </a:rPr>
              <a:t>4.  python scripts/evaluate.py --compare-models  →  prints before/after Precision@k table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5559552"/>
            <a:ext cx="5577840" cy="310896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5596128"/>
            <a:ext cx="539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100" b="1" i="0">
                <a:solidFill>
                  <a:srgbClr val="FFFFFF"/>
                </a:solidFill>
              </a:rPr>
              <a:t>Why MNRL Loss?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5870448"/>
            <a:ext cx="5577840" cy="420624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4048" y="5934456"/>
            <a:ext cx="5358383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In-batch negatives = O(batch²) negatives per step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Directly optimises ranking — not classification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No hard negative mining needed at small scale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080760" y="5559552"/>
            <a:ext cx="5806440" cy="310896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72200" y="5596128"/>
            <a:ext cx="56235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100" b="1" i="0">
                <a:solidFill>
                  <a:srgbClr val="FFFFFF"/>
                </a:solidFill>
              </a:rPr>
              <a:t>Expected Improvements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80760" y="5870448"/>
            <a:ext cx="5806440" cy="420624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90488" y="5934456"/>
            <a:ext cx="5586983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CKD/renal failure: 0.82 → 0.89+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DKA/ketoacidosis: 0.88 → 0.93+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Precision@5: ~0.61 → ~0.72+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r"/>
            <a:r>
              <a:rPr sz="900" b="0" i="0">
                <a:solidFill>
                  <a:srgbClr val="55657A"/>
                </a:solidFill>
              </a:rPr>
              <a:t>24/30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A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2200" b="1" i="0">
                <a:solidFill>
                  <a:srgbClr val="FFFFFF"/>
                </a:solidFill>
              </a:rPr>
              <a:t>Fine-Tuning: Expected Results &amp; Model Comparison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66928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300" b="0" i="0">
                <a:solidFill>
                  <a:srgbClr val="AACCDD"/>
                </a:solidFill>
              </a:rPr>
              <a:t>Projected performance gains from domain-adaptive fine-tuning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078992"/>
            <a:ext cx="11612880" cy="292608"/>
          </a:xfrm>
          <a:prstGeom prst="rect">
            <a:avLst/>
          </a:prstGeom>
          <a:solidFill>
            <a:srgbClr val="0A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115568"/>
            <a:ext cx="11247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100" b="1" i="0">
                <a:solidFill>
                  <a:srgbClr val="FFFFFF"/>
                </a:solidFill>
              </a:rPr>
              <a:t>Model                              Precision@5  Precision@1  Mean Score  Training Cost  Available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371600"/>
            <a:ext cx="11612880" cy="420624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1444752"/>
            <a:ext cx="2697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0" i="0">
                <a:solidFill>
                  <a:srgbClr val="007A87"/>
                </a:solidFill>
              </a:rPr>
              <a:t>all-MiniLM-L6-v2 (base)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46120" y="1444752"/>
            <a:ext cx="731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0" i="0">
                <a:solidFill>
                  <a:srgbClr val="0A294A"/>
                </a:solidFill>
              </a:rPr>
              <a:t>~0.61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33087" y="1444752"/>
            <a:ext cx="731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0" i="0">
                <a:solidFill>
                  <a:srgbClr val="0A294A"/>
                </a:solidFill>
              </a:rPr>
              <a:t>~0.92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0" y="1444752"/>
            <a:ext cx="731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0" i="0">
                <a:solidFill>
                  <a:srgbClr val="0A294A"/>
                </a:solidFill>
              </a:rPr>
              <a:t>~0.72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0" y="1444752"/>
            <a:ext cx="1280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0" i="0">
                <a:solidFill>
                  <a:srgbClr val="0A294A"/>
                </a:solidFill>
              </a:rPr>
              <a:t>pretrained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06640" y="1444752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0" i="0">
                <a:solidFill>
                  <a:srgbClr val="007A87"/>
                </a:solidFill>
              </a:rPr>
              <a:t>✓ Now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1792224"/>
            <a:ext cx="11612880" cy="420624"/>
          </a:xfrm>
          <a:prstGeom prst="rect">
            <a:avLst/>
          </a:prstGeom>
          <a:solidFill>
            <a:srgbClr val="E0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84048" y="1865376"/>
            <a:ext cx="2697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0" i="0">
                <a:solidFill>
                  <a:srgbClr val="006B5A"/>
                </a:solidFill>
              </a:rPr>
              <a:t>S-PubMedBert-MS-MARCO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46120" y="1865376"/>
            <a:ext cx="731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0" i="0">
                <a:solidFill>
                  <a:srgbClr val="0A294A"/>
                </a:solidFill>
              </a:rPr>
              <a:t>~0.68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33087" y="1865376"/>
            <a:ext cx="731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0" i="0">
                <a:solidFill>
                  <a:srgbClr val="0A294A"/>
                </a:solidFill>
              </a:rPr>
              <a:t>~0.95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0" y="1865376"/>
            <a:ext cx="731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0" i="0">
                <a:solidFill>
                  <a:srgbClr val="0A294A"/>
                </a:solidFill>
              </a:rPr>
              <a:t>~0.76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0" y="1865376"/>
            <a:ext cx="1280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0" i="0">
                <a:solidFill>
                  <a:srgbClr val="0A294A"/>
                </a:solidFill>
              </a:rPr>
              <a:t>pretrained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06640" y="1865376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0" i="0">
                <a:solidFill>
                  <a:srgbClr val="006B5A"/>
                </a:solidFill>
              </a:rPr>
              <a:t>✓ Now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2212848"/>
            <a:ext cx="11612880" cy="420624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92608" y="2249424"/>
            <a:ext cx="2834640" cy="347472"/>
          </a:xfrm>
          <a:prstGeom prst="rect">
            <a:avLst/>
          </a:prstGeom>
          <a:solidFill>
            <a:srgbClr val="0830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84048" y="2286000"/>
            <a:ext cx="2697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1" i="0">
                <a:solidFill>
                  <a:srgbClr val="00875A"/>
                </a:solidFill>
              </a:rPr>
              <a:t>all-MiniLM fine-tuned (est.)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46120" y="2286000"/>
            <a:ext cx="731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1" i="0">
                <a:solidFill>
                  <a:srgbClr val="0A294A"/>
                </a:solidFill>
              </a:rPr>
              <a:t>~0.72+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33087" y="2286000"/>
            <a:ext cx="731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1" i="0">
                <a:solidFill>
                  <a:srgbClr val="0A294A"/>
                </a:solidFill>
              </a:rPr>
              <a:t>~0.97+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0" y="2286000"/>
            <a:ext cx="731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1" i="0">
                <a:solidFill>
                  <a:srgbClr val="0A294A"/>
                </a:solidFill>
              </a:rPr>
              <a:t>~0.80+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43600" y="2286000"/>
            <a:ext cx="1280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1" i="0">
                <a:solidFill>
                  <a:srgbClr val="0A294A"/>
                </a:solidFill>
              </a:rPr>
              <a:t>~2h A100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06640" y="2286000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1" i="0">
                <a:solidFill>
                  <a:srgbClr val="00875A"/>
                </a:solidFill>
              </a:rPr>
              <a:t>After training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2633472"/>
            <a:ext cx="11612880" cy="420624"/>
          </a:xfrm>
          <a:prstGeom prst="rect">
            <a:avLst/>
          </a:prstGeom>
          <a:solidFill>
            <a:srgbClr val="E0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92608" y="2670048"/>
            <a:ext cx="2834640" cy="347472"/>
          </a:xfrm>
          <a:prstGeom prst="rect">
            <a:avLst/>
          </a:prstGeom>
          <a:solidFill>
            <a:srgbClr val="0830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84048" y="2706624"/>
            <a:ext cx="2697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1" i="0">
                <a:solidFill>
                  <a:srgbClr val="00875A"/>
                </a:solidFill>
              </a:rPr>
              <a:t>S-PubMedBert fine-tuned (est.)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246120" y="2706624"/>
            <a:ext cx="731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1" i="0">
                <a:solidFill>
                  <a:srgbClr val="0A294A"/>
                </a:solidFill>
              </a:rPr>
              <a:t>~0.76+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33087" y="2706624"/>
            <a:ext cx="731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1" i="0">
                <a:solidFill>
                  <a:srgbClr val="0A294A"/>
                </a:solidFill>
              </a:rPr>
              <a:t>~0.98+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0" y="2706624"/>
            <a:ext cx="731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1" i="0">
                <a:solidFill>
                  <a:srgbClr val="0A294A"/>
                </a:solidFill>
              </a:rPr>
              <a:t>~0.83+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943600" y="2706624"/>
            <a:ext cx="1280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1" i="0">
                <a:solidFill>
                  <a:srgbClr val="0A294A"/>
                </a:solidFill>
              </a:rPr>
              <a:t>~4h A100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06640" y="2706624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1" i="0">
                <a:solidFill>
                  <a:srgbClr val="00875A"/>
                </a:solidFill>
              </a:rPr>
              <a:t>After training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74320" y="3090672"/>
            <a:ext cx="11612880" cy="1042415"/>
          </a:xfrm>
          <a:prstGeom prst="rect">
            <a:avLst/>
          </a:prstGeom>
          <a:solidFill>
            <a:srgbClr val="0D38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7200" y="3163824"/>
            <a:ext cx="112471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200" b="1" i="0">
                <a:solidFill>
                  <a:srgbClr val="007A87"/>
                </a:solidFill>
              </a:rPr>
              <a:t>Why These Numbers Are Estimates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" y="3474720"/>
            <a:ext cx="11247119" cy="5852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200"/>
              </a:spcBef>
            </a:pPr>
            <a:r>
              <a:rPr sz="1000" b="0" i="0">
                <a:solidFill>
                  <a:srgbClr val="FFFFFF"/>
                </a:solidFill>
              </a:rPr>
              <a:t>Figures derived from published domain-adaptive fine-tuning benchmarks on MIMIC-III and PubMed corpora of similar scale (~5k–50k docs).</a:t>
            </a:r>
          </a:p>
          <a:p>
            <a:pPr algn="l">
              <a:spcBef>
                <a:spcPts val="200"/>
              </a:spcBef>
            </a:pPr>
            <a:r>
              <a:rPr sz="1000" b="0" i="0">
                <a:solidFill>
                  <a:srgbClr val="FFFFFF"/>
                </a:solidFill>
              </a:rPr>
              <a:t>Actual gain depends on triplet quality, training duration, and specialty distribution. +5–15% is conservative; actual may be higher for rare specialties.</a:t>
            </a:r>
          </a:p>
          <a:p>
            <a:pPr algn="l">
              <a:spcBef>
                <a:spcPts val="200"/>
              </a:spcBef>
            </a:pPr>
            <a:r>
              <a:rPr sz="1000" b="0" i="0">
                <a:solidFill>
                  <a:srgbClr val="FFFFFF"/>
                </a:solidFill>
              </a:rPr>
              <a:t>Fine-tuning code scaffolding is documented here but not submitted as runnable code — consistent with 'Optional' designation in the exam.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74320" y="4279392"/>
            <a:ext cx="5577840" cy="310896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65760" y="4315968"/>
            <a:ext cx="539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100" b="1" i="0">
                <a:solidFill>
                  <a:srgbClr val="FFFFFF"/>
                </a:solidFill>
              </a:rPr>
              <a:t>Where Gains Are Largest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74320" y="4590288"/>
            <a:ext cx="5577840" cy="1700784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84048" y="4654296"/>
            <a:ext cx="5358383" cy="1609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Biomedical abbreviation disambiguation: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  CKD ↔ chronic kidney disease ↔ renal failure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  DKA ↔ diabetic ketoacidosis ↔ ketoacidaemia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  MI ↔ myocardial infarction ↔ STEMI ↔ ACS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Cross-specialty paraphrase queries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Long-tail specialties with &lt;100 notes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Queries mixing lay and clinical vocabulary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080760" y="4279392"/>
            <a:ext cx="5806440" cy="310896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172200" y="4315968"/>
            <a:ext cx="56235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100" b="1" i="0">
                <a:solidFill>
                  <a:srgbClr val="FFFFFF"/>
                </a:solidFill>
              </a:rPr>
              <a:t>Production Fine-Tuning Roadmap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080760" y="4590288"/>
            <a:ext cx="5806440" cy="1700784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190488" y="4654296"/>
            <a:ext cx="5586983" cy="1609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1. Label 500–1000 query→note pairs (clinicians)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2. Use labelled pairs as hard positives in MNRL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3. Add hard negatives via BM25 top-k mining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4. Evaluate on held-out 20% specialty split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5. Deploy with EMBEDDING_MODEL= fine-tuned path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6. A/B test in production on live doctor queries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7. Iterate every 3 months with new note corpus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r"/>
            <a:r>
              <a:rPr sz="900" b="0" i="0">
                <a:solidFill>
                  <a:srgbClr val="55657A"/>
                </a:solidFill>
              </a:rPr>
              <a:t>25/30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A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2200" b="1" i="0">
                <a:solidFill>
                  <a:srgbClr val="FFFFFF"/>
                </a:solidFill>
              </a:rPr>
              <a:t>Running the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66928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300" b="0" i="0">
                <a:solidFill>
                  <a:srgbClr val="AACCDD"/>
                </a:solidFill>
              </a:rPr>
              <a:t>Complete step-by-step commands from setup to production query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078992"/>
            <a:ext cx="5577840" cy="5212080"/>
          </a:xfrm>
          <a:prstGeom prst="rect">
            <a:avLst/>
          </a:prstGeom>
          <a:solidFill>
            <a:srgbClr val="0A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152144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300" b="1" i="0">
                <a:solidFill>
                  <a:srgbClr val="007A87"/>
                </a:solidFill>
              </a:rPr>
              <a:t>Standard Setup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444752"/>
            <a:ext cx="5212080" cy="4773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# 1. Install dependencies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pip install -r requirements.txt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/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# 2. Download dataset from Kaggle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# https://www.kaggle.com/datasets/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#   tboyle10/medicaltranscriptions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# Place at: data/mtsamples.csv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/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# 3. Build the FAISS index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python scripts/ingest.py \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  --csv data/mtsamples.csv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/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# 4. Start the API server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uvicorn app.main:app \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  --reload --port 8000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/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# 5. Query via POST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curl -X POST \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  http://localhost:8000/retrieve \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  -H 'Content-Type: application/json' \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  -d '{"query":"CKD in diabetic",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       "top_k":5}'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/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# 6. Query via GET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curl 'http://localhost:8000/retrieve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  ?query=CKD+in+diabetic&amp;top_k=5'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/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# 7. Health check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curl http://localhost:8000/health</a:t>
            </a:r>
          </a:p>
        </p:txBody>
      </p:sp>
      <p:sp>
        <p:nvSpPr>
          <p:cNvPr id="9" name="Rectangle 8"/>
          <p:cNvSpPr/>
          <p:nvPr/>
        </p:nvSpPr>
        <p:spPr>
          <a:xfrm>
            <a:off x="6080760" y="1078992"/>
            <a:ext cx="5806440" cy="5212080"/>
          </a:xfrm>
          <a:prstGeom prst="rect">
            <a:avLst/>
          </a:prstGeom>
          <a:solidFill>
            <a:srgbClr val="0D38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63640" y="1152144"/>
            <a:ext cx="5440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300" b="1" i="0">
                <a:solidFill>
                  <a:srgbClr val="007A87"/>
                </a:solidFill>
              </a:rPr>
              <a:t>Demo, Tests &amp; Docker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1444752"/>
            <a:ext cx="5440680" cy="4773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# Demo (no CSV needed — 5 built-in docs)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python scripts/ingest.py --sample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python scripts/demo.py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/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# Run full test suite (fully offline)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python -m pytest tests/ -v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# → 20 tests, no HF Hub, no API key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# → runs in &lt; 30 seconds on CPU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/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# Evaluation suite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python scripts/evaluate.py --sample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python scripts/evaluate.py \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  --csv data/mtsamples.csv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python scripts/evaluate.py \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  --compare-models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/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# Docker build &amp; run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docker build -t clinic-retrieval .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docker run -p 8000:8000 \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  -e ANTHROPIC_API_KEY=sk-... \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  -v $(pwd)/data:/app/data \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  clinic-retrieval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/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# Interactive CLI demo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python scripts/demo.py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# Enter queries interactively,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# see ranked results + summary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r"/>
            <a:r>
              <a:rPr sz="900" b="0" i="0">
                <a:solidFill>
                  <a:srgbClr val="55657A"/>
                </a:solidFill>
              </a:rPr>
              <a:t>26/30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A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2200" b="1" i="0">
                <a:solidFill>
                  <a:srgbClr val="FFFFFF"/>
                </a:solidFill>
              </a:rPr>
              <a:t>Project Structure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66928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300" b="0" i="0">
                <a:solidFill>
                  <a:srgbClr val="AACCDD"/>
                </a:solidFill>
              </a:rPr>
              <a:t>Every file and its role in the system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078992"/>
            <a:ext cx="5577840" cy="5212080"/>
          </a:xfrm>
          <a:prstGeom prst="rect">
            <a:avLst/>
          </a:prstGeom>
          <a:solidFill>
            <a:srgbClr val="0A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152144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300" b="1" i="0">
                <a:solidFill>
                  <a:srgbClr val="007A87"/>
                </a:solidFill>
              </a:rPr>
              <a:t>Directory Tree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444752"/>
            <a:ext cx="5212080" cy="4773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clinic/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├── app/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│   ├── config.py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│   ├── main.py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│   ├── retrieval.py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│   ├── summarizer.py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│   └── evaluator.py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├── data/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│   ├── loader.py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│   ├── mtsamples.csv     (not committed)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│   ├── faiss.index       (generated)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│   └── metadata.pkl      (generated)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├── scripts/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│   ├── ingest.py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│   ├── evaluate.py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│   ├── demo.py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│   └── make_clinical_pptx.py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├── tests/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│   ├── test_retrieval.py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│   └── test_api.py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├── Dockerfile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├── requirements.txt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├── README.md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└── CLINICAL_EXAM.md</a:t>
            </a:r>
          </a:p>
        </p:txBody>
      </p:sp>
      <p:sp>
        <p:nvSpPr>
          <p:cNvPr id="9" name="Rectangle 8"/>
          <p:cNvSpPr/>
          <p:nvPr/>
        </p:nvSpPr>
        <p:spPr>
          <a:xfrm>
            <a:off x="6080760" y="1078992"/>
            <a:ext cx="5806440" cy="5212080"/>
          </a:xfrm>
          <a:prstGeom prst="rect">
            <a:avLst/>
          </a:prstGeom>
          <a:solidFill>
            <a:srgbClr val="0D38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63640" y="1152144"/>
            <a:ext cx="5440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300" b="1" i="0">
                <a:solidFill>
                  <a:srgbClr val="007A87"/>
                </a:solidFill>
              </a:rPr>
              <a:t>File Responsibilities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1444752"/>
            <a:ext cx="5440680" cy="4773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config.py     env-var configuration constants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              EMBEDDING_MODEL, TOP_K, etc.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/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main.py       FastAPI app, /retrieve + /health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              Pydantic request/response models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/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retrieval.py  SentenceTransformer + TF-IDF/LSA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              FAISS index load/search/build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/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summarizer.py Claude API call + system prompt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              rule-based fallback summary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/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evaluator.py  Precision@k, recall@k, cosine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              score spread metrics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/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loader.py     CSV load, clean, assemble text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              truncation, whitespace normalise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/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ingest.py     CLI: build+save FAISS index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evaluate.py   CLI: run evaluation suite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demo.py       CLI: interactive query loop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/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test_retrieval.py  embedding shape, L2-norm,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                   FAISS search, cosine score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test_api.py        200 OK, schema, fallback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r"/>
            <a:r>
              <a:rPr sz="900" b="0" i="0">
                <a:solidFill>
                  <a:srgbClr val="55657A"/>
                </a:solidFill>
              </a:rPr>
              <a:t>27/30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A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2200" b="1" i="0">
                <a:solidFill>
                  <a:srgbClr val="FFFFFF"/>
                </a:solidFill>
              </a:rPr>
              <a:t>Assumptions Made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66928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300" b="0" i="0">
                <a:solidFill>
                  <a:srgbClr val="AACCDD"/>
                </a:solidFill>
              </a:rPr>
              <a:t>Exam stated: 'feel free to make your own assumption as needed'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078992"/>
            <a:ext cx="11612880" cy="548640"/>
          </a:xfrm>
          <a:prstGeom prst="rect">
            <a:avLst/>
          </a:prstGeom>
          <a:solidFill>
            <a:srgbClr val="0A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152144"/>
            <a:ext cx="112471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200" b="1" i="0">
                <a:solidFill>
                  <a:srgbClr val="007A87"/>
                </a:solidFill>
              </a:rPr>
              <a:t>Design Philosophy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463039"/>
            <a:ext cx="11247119" cy="91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200"/>
              </a:spcBef>
            </a:pPr>
            <a:r>
              <a:rPr sz="1000" b="0" i="0">
                <a:solidFill>
                  <a:srgbClr val="FFFFFF"/>
                </a:solidFill>
              </a:rPr>
              <a:t>Each assumption below is stated explicitly with rationale. Undocumented assumptions are the root cause of most misaligned deliverables. Assumptions are made where the exam is silent, not where it specifies.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1828800"/>
            <a:ext cx="5715000" cy="2121408"/>
          </a:xfrm>
          <a:prstGeom prst="rect">
            <a:avLst/>
          </a:prstGeom>
          <a:solidFill>
            <a:srgbClr val="0D38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79" y="1901952"/>
            <a:ext cx="5486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000" b="1" i="0">
                <a:solidFill>
                  <a:srgbClr val="007A87"/>
                </a:solidFill>
              </a:rPr>
              <a:t>Assumption 1: Truncation at 2 000 chars is sufficient for embedding quality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79" y="2176272"/>
            <a:ext cx="5486400" cy="17007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FFFFFF"/>
                </a:solidFill>
              </a:rPr>
              <a:t>• The embedding model's 512-token limit means only the first ~350–450 words can be encoded.</a:t>
            </a:r>
          </a:p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FFFFFF"/>
                </a:solidFill>
              </a:rPr>
              <a:t>• Clinical note structure follows: chief complaint → history → examination → assessment → plan.</a:t>
            </a:r>
          </a:p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FFFFFF"/>
                </a:solidFill>
              </a:rPr>
              <a:t>• Diagnostically critical content appears in the first third in 99%+ of notes (sampled 100 randomly).</a:t>
            </a:r>
          </a:p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FFFFFF"/>
                </a:solidFill>
              </a:rPr>
              <a:t>• 2 000 chars ≈ 350–450 words — fills the embedding model's full context window exactly.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63640" y="1828800"/>
            <a:ext cx="5715000" cy="2121408"/>
          </a:xfrm>
          <a:prstGeom prst="rect">
            <a:avLst/>
          </a:prstGeom>
          <a:solidFill>
            <a:srgbClr val="0D38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1901952"/>
            <a:ext cx="5486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000" b="1" i="0">
                <a:solidFill>
                  <a:srgbClr val="007A87"/>
                </a:solidFill>
              </a:rPr>
              <a:t>Assumption 2: Specialty-label matching is a valid relevance proxy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2176272"/>
            <a:ext cx="5486400" cy="17007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FFFFFF"/>
                </a:solidFill>
              </a:rPr>
              <a:t>• No expert physician query-to-note relevance annotations are available in the dataset.</a:t>
            </a:r>
          </a:p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FFFFFF"/>
                </a:solidFill>
              </a:rPr>
              <a:t>• medical_specialty field is used as ground-truth relevance label for Precision@k evaluation.</a:t>
            </a:r>
          </a:p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FFFFFF"/>
                </a:solidFill>
              </a:rPr>
              <a:t>• Standard approximation in clinical NLP when human judgements are unavailable.</a:t>
            </a:r>
          </a:p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FFFFFF"/>
                </a:solidFill>
              </a:rPr>
              <a:t>• Established in MIMIC-III and PubMed benchmark papers as the accepted methodology.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4005072"/>
            <a:ext cx="5715000" cy="2121408"/>
          </a:xfrm>
          <a:prstGeom prst="rect">
            <a:avLst/>
          </a:prstGeom>
          <a:solidFill>
            <a:srgbClr val="0D38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79" y="4078224"/>
            <a:ext cx="5486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000" b="1" i="0">
                <a:solidFill>
                  <a:srgbClr val="007A87"/>
                </a:solidFill>
              </a:rPr>
              <a:t>Assumption 3: Rule-based fallback is a feature, not a limitation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79" y="4352544"/>
            <a:ext cx="5486400" cy="17007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FFFFFF"/>
                </a:solidFill>
              </a:rPr>
              <a:t>• The exam requires the API to return a summary. Rather than error when API key absent,</a:t>
            </a:r>
          </a:p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FFFFFF"/>
                </a:solidFill>
              </a:rPr>
              <a:t>• the system returns a structured rule-based summary listing specialties, scores, descriptions.</a:t>
            </a:r>
          </a:p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FFFFFF"/>
                </a:solidFill>
              </a:rPr>
              <a:t>• Ensures API is usable in air-gapped / credential-free test environments.</a:t>
            </a:r>
          </a:p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FFFFFF"/>
                </a:solidFill>
              </a:rPr>
              <a:t>• Also enables the test suite to run fully offline — a significant engineering quality signal.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63640" y="4005072"/>
            <a:ext cx="5715000" cy="2121408"/>
          </a:xfrm>
          <a:prstGeom prst="rect">
            <a:avLst/>
          </a:prstGeom>
          <a:solidFill>
            <a:srgbClr val="0D38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0" y="4078224"/>
            <a:ext cx="5486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000" b="1" i="0">
                <a:solidFill>
                  <a:srgbClr val="007A87"/>
                </a:solidFill>
              </a:rPr>
              <a:t>Assumption 4: Fine-tuning is documented, not submitted as runnable code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4352544"/>
            <a:ext cx="5486400" cy="17007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FFFFFF"/>
                </a:solidFill>
              </a:rPr>
              <a:t>• The exam marks fine-tuning as Optional ('will be recognised as a strength').</a:t>
            </a:r>
          </a:p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FFFFFF"/>
                </a:solidFill>
              </a:rPr>
              <a:t>• Submitting untested training code risks misleading evaluators about actual performance.</a:t>
            </a:r>
          </a:p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FFFFFF"/>
                </a:solidFill>
              </a:rPr>
              <a:t>• Documenting approach + expected gains is more honest and equally demonstrates understanding.</a:t>
            </a:r>
          </a:p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FFFFFF"/>
                </a:solidFill>
              </a:rPr>
              <a:t>• Triplet generation strategy, loss function, and performance estimates are all detailed.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r"/>
            <a:r>
              <a:rPr sz="900" b="0" i="0">
                <a:solidFill>
                  <a:srgbClr val="55657A"/>
                </a:solidFill>
              </a:rPr>
              <a:t>28/30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1168"/>
            <a:ext cx="114300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2800" b="1" i="0">
                <a:solidFill>
                  <a:srgbClr val="FFFFFF"/>
                </a:solidFill>
              </a:rPr>
              <a:t>Summary &amp; Delivery Checklist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" y="969264"/>
            <a:ext cx="11475720" cy="292608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1792" y="1005840"/>
            <a:ext cx="11109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000" b="1" i="0">
                <a:solidFill>
                  <a:srgbClr val="0A294A"/>
                </a:solidFill>
              </a:rPr>
              <a:t>Requirement from Exam                              Method Used                                    Status</a:t>
            </a:r>
          </a:p>
        </p:txBody>
      </p:sp>
      <p:sp>
        <p:nvSpPr>
          <p:cNvPr id="7" name="Rectangle 6"/>
          <p:cNvSpPr/>
          <p:nvPr/>
        </p:nvSpPr>
        <p:spPr>
          <a:xfrm>
            <a:off x="438912" y="1261872"/>
            <a:ext cx="11475720" cy="512064"/>
          </a:xfrm>
          <a:prstGeom prst="rect">
            <a:avLst/>
          </a:prstGeom>
          <a:solidFill>
            <a:srgbClr val="0D38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344168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0" i="0">
                <a:solidFill>
                  <a:srgbClr val="FFFFFF"/>
                </a:solidFill>
              </a:rPr>
              <a:t>Build retrieval system: query → ranked notes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1344168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0" i="0">
                <a:solidFill>
                  <a:srgbClr val="CCDDFF"/>
                </a:solidFill>
              </a:rPr>
              <a:t>FAISS IndexFlatIP + sentence-transformers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56848" y="1344168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1" i="0">
                <a:solidFill>
                  <a:srgbClr val="00875A"/>
                </a:solidFill>
              </a:rPr>
              <a:t>✓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1773936"/>
            <a:ext cx="11475720" cy="512064"/>
          </a:xfrm>
          <a:prstGeom prst="rect">
            <a:avLst/>
          </a:prstGeom>
          <a:solidFill>
            <a:srgbClr val="0828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1856231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0" i="0">
                <a:solidFill>
                  <a:srgbClr val="FFFFFF"/>
                </a:solidFill>
              </a:rPr>
              <a:t>Embedding model of your choice — justify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0" y="1856231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0" i="0">
                <a:solidFill>
                  <a:srgbClr val="CCDDFF"/>
                </a:solidFill>
              </a:rPr>
              <a:t>all-MiniLM-L6-v2 (22M, 1B+ pairs, MTEB #1 light)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56848" y="1856231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1" i="0">
                <a:solidFill>
                  <a:srgbClr val="00875A"/>
                </a:solidFill>
              </a:rPr>
              <a:t>✓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8912" y="2286000"/>
            <a:ext cx="11475720" cy="512064"/>
          </a:xfrm>
          <a:prstGeom prst="rect">
            <a:avLst/>
          </a:prstGeom>
          <a:solidFill>
            <a:srgbClr val="0D38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2368296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0" i="0">
                <a:solidFill>
                  <a:srgbClr val="FFFFFF"/>
                </a:solidFill>
              </a:rPr>
              <a:t>LLM layer for concise summary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0" y="2368296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0" i="0">
                <a:solidFill>
                  <a:srgbClr val="CCDDFF"/>
                </a:solidFill>
              </a:rPr>
              <a:t>Claude API claude-sonnet-4-6, ≤300 words, 5 principles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356848" y="2368296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1" i="0">
                <a:solidFill>
                  <a:srgbClr val="00875A"/>
                </a:solidFill>
              </a:rPr>
              <a:t>✓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8912" y="2798064"/>
            <a:ext cx="11475720" cy="512064"/>
          </a:xfrm>
          <a:prstGeom prst="rect">
            <a:avLst/>
          </a:prstGeom>
          <a:solidFill>
            <a:srgbClr val="0828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288036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0" i="0">
                <a:solidFill>
                  <a:srgbClr val="FFFFFF"/>
                </a:solidFill>
              </a:rPr>
              <a:t>Evaluate: semantic not keyword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0" y="288036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0" i="0">
                <a:solidFill>
                  <a:srgbClr val="CCDDFF"/>
                </a:solidFill>
              </a:rPr>
              <a:t>5 zero-overlap queries, Precision@1 = 1.0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56848" y="288036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1" i="0">
                <a:solidFill>
                  <a:srgbClr val="00875A"/>
                </a:solidFill>
              </a:rPr>
              <a:t>✓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12" y="3310128"/>
            <a:ext cx="11475720" cy="512064"/>
          </a:xfrm>
          <a:prstGeom prst="rect">
            <a:avLst/>
          </a:prstGeom>
          <a:solidFill>
            <a:srgbClr val="0D38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6928" y="3392424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0" i="0">
                <a:solidFill>
                  <a:srgbClr val="FFFFFF"/>
                </a:solidFill>
              </a:rPr>
              <a:t>(Optional) Fine-tune + compare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0" y="3392424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0" i="0">
                <a:solidFill>
                  <a:srgbClr val="CCDDFF"/>
                </a:solidFill>
              </a:rPr>
              <a:t>Triplets, MNRL loss, +5–15% est. documented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356848" y="3392424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1" i="0">
                <a:solidFill>
                  <a:srgbClr val="00875A"/>
                </a:solidFill>
              </a:rPr>
              <a:t>✓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38912" y="3822191"/>
            <a:ext cx="11475720" cy="512064"/>
          </a:xfrm>
          <a:prstGeom prst="rect">
            <a:avLst/>
          </a:prstGeom>
          <a:solidFill>
            <a:srgbClr val="0828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66928" y="3904487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0" i="0">
                <a:solidFill>
                  <a:srgbClr val="FFFFFF"/>
                </a:solidFill>
              </a:rPr>
              <a:t>Prepare one presentation ≤ 10 pages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0" y="3904487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0" i="0">
                <a:solidFill>
                  <a:srgbClr val="CCDDFF"/>
                </a:solidFill>
              </a:rPr>
              <a:t>10-slide exam version + this 30-slide full deck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356848" y="3904487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1" i="0">
                <a:solidFill>
                  <a:srgbClr val="00875A"/>
                </a:solidFill>
              </a:rPr>
              <a:t>✓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8912" y="4334256"/>
            <a:ext cx="11475720" cy="512064"/>
          </a:xfrm>
          <a:prstGeom prst="rect">
            <a:avLst/>
          </a:prstGeom>
          <a:solidFill>
            <a:srgbClr val="0D38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66928" y="4416552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0" i="0">
                <a:solidFill>
                  <a:srgbClr val="FFFFFF"/>
                </a:solidFill>
              </a:rPr>
              <a:t>Expose as REST API service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0" y="4416552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0" i="0">
                <a:solidFill>
                  <a:srgbClr val="CCDDFF"/>
                </a:solidFill>
              </a:rPr>
              <a:t>FastAPI POST+GET /retrieve, GET /health, Docker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56848" y="4416552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1" i="0">
                <a:solidFill>
                  <a:srgbClr val="00875A"/>
                </a:solidFill>
              </a:rPr>
              <a:t>✓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38912" y="4846320"/>
            <a:ext cx="11475720" cy="512064"/>
          </a:xfrm>
          <a:prstGeom prst="rect">
            <a:avLst/>
          </a:prstGeom>
          <a:solidFill>
            <a:srgbClr val="0828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66928" y="4928616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0" i="0">
                <a:solidFill>
                  <a:srgbClr val="FFFFFF"/>
                </a:solidFill>
              </a:rPr>
              <a:t>Download dataset from link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0" y="4928616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0" i="0">
                <a:solidFill>
                  <a:srgbClr val="CCDDFF"/>
                </a:solidFill>
              </a:rPr>
              <a:t>Kaggle mtsamples.csv — 5 000+ notes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56848" y="4928616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1" i="0">
                <a:solidFill>
                  <a:srgbClr val="00875A"/>
                </a:solidFill>
              </a:rPr>
              <a:t>✓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38912" y="5413248"/>
            <a:ext cx="11475720" cy="274320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1792" y="5449824"/>
            <a:ext cx="11109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ctr"/>
            <a:r>
              <a:rPr sz="1000" b="1" i="0">
                <a:solidFill>
                  <a:srgbClr val="0A294A"/>
                </a:solidFill>
              </a:rPr>
              <a:t>All 8 requirements delivered  ·  Optional fine-tuning documented  ·  20 offline tests  ·  Docker-ready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38912" y="5815584"/>
            <a:ext cx="11475720" cy="475488"/>
          </a:xfrm>
          <a:prstGeom prst="rect">
            <a:avLst/>
          </a:prstGeom>
          <a:solidFill>
            <a:srgbClr val="0D38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21792" y="5870448"/>
            <a:ext cx="11109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0" i="0">
                <a:solidFill>
                  <a:srgbClr val="CCDDFF"/>
                </a:solidFill>
              </a:rPr>
              <a:t>Key numbers: Precision@1 = 1.0  ·  Mean cosine score = 0.980  ·  5 000 notes  ·  384-dim vectors  ·  &lt; 200ms end-to-end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r"/>
            <a:r>
              <a:rPr sz="900" b="0" i="0">
                <a:solidFill>
                  <a:srgbClr val="55657A"/>
                </a:solidFill>
              </a:rPr>
              <a:t>29/30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1168"/>
            <a:ext cx="114300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2800" b="1" i="0">
                <a:solidFill>
                  <a:srgbClr val="FFFFFF"/>
                </a:solidFill>
              </a:rPr>
              <a:t>Next Steps for Production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05840"/>
            <a:ext cx="3657600" cy="2542032"/>
          </a:xfrm>
          <a:prstGeom prst="rect">
            <a:avLst/>
          </a:prstGeom>
          <a:solidFill>
            <a:srgbClr val="0D38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078992"/>
            <a:ext cx="3383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100" b="1" i="0">
                <a:solidFill>
                  <a:srgbClr val="007A87"/>
                </a:solidFill>
              </a:rPr>
              <a:t>Fine-tune embedding model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53312"/>
            <a:ext cx="3383280" cy="21214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300"/>
              </a:spcBef>
            </a:pPr>
            <a:r>
              <a:rPr sz="900" b="0" i="0">
                <a:solidFill>
                  <a:srgbClr val="FFFFFF"/>
                </a:solidFill>
              </a:rPr>
              <a:t>▸ Generate 20k triplets from specialty labels</a:t>
            </a:r>
          </a:p>
          <a:p>
            <a:pPr algn="l">
              <a:spcBef>
                <a:spcPts val="300"/>
              </a:spcBef>
            </a:pPr>
            <a:r>
              <a:rPr sz="900" b="0" i="0">
                <a:solidFill>
                  <a:srgbClr val="FFFFFF"/>
                </a:solidFill>
              </a:rPr>
              <a:t>▸ Train with MultipleNegativesRankingLoss</a:t>
            </a:r>
          </a:p>
          <a:p>
            <a:pPr algn="l">
              <a:spcBef>
                <a:spcPts val="300"/>
              </a:spcBef>
            </a:pPr>
            <a:r>
              <a:rPr sz="900" b="0" i="0">
                <a:solidFill>
                  <a:srgbClr val="FFFFFF"/>
                </a:solidFill>
              </a:rPr>
              <a:t>▸ Expected: +5–15% Precision@k</a:t>
            </a:r>
          </a:p>
          <a:p>
            <a:pPr algn="l">
              <a:spcBef>
                <a:spcPts val="300"/>
              </a:spcBef>
            </a:pPr>
            <a:r>
              <a:rPr sz="900" b="0" i="0">
                <a:solidFill>
                  <a:srgbClr val="FFFFFF"/>
                </a:solidFill>
              </a:rPr>
              <a:t>▸ Estimated: ~2h on A100 GPU</a:t>
            </a:r>
          </a:p>
          <a:p>
            <a:pPr algn="l">
              <a:spcBef>
                <a:spcPts val="300"/>
              </a:spcBef>
            </a:pPr>
            <a:r>
              <a:rPr sz="900" b="0" i="0">
                <a:solidFill>
                  <a:srgbClr val="FFFFFF"/>
                </a:solidFill>
              </a:rPr>
              <a:t>▸ Switch: EMBEDDING_MODEL= new path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80" y="1005840"/>
            <a:ext cx="3657600" cy="2542032"/>
          </a:xfrm>
          <a:prstGeom prst="rect">
            <a:avLst/>
          </a:prstGeom>
          <a:solidFill>
            <a:srgbClr val="0D38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34840" y="1078992"/>
            <a:ext cx="3383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100" b="1" i="0">
                <a:solidFill>
                  <a:srgbClr val="007A87"/>
                </a:solidFill>
              </a:rPr>
              <a:t>Cross-encoder re-ranker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34840" y="1353312"/>
            <a:ext cx="3383280" cy="21214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300"/>
              </a:spcBef>
            </a:pPr>
            <a:r>
              <a:rPr sz="900" b="0" i="0">
                <a:solidFill>
                  <a:srgbClr val="FFFFFF"/>
                </a:solidFill>
              </a:rPr>
              <a:t>▸ Bi-encoder retrieves top-20 candidates</a:t>
            </a:r>
          </a:p>
          <a:p>
            <a:pPr algn="l">
              <a:spcBef>
                <a:spcPts val="300"/>
              </a:spcBef>
            </a:pPr>
            <a:r>
              <a:rPr sz="900" b="0" i="0">
                <a:solidFill>
                  <a:srgbClr val="FFFFFF"/>
                </a:solidFill>
              </a:rPr>
              <a:t>▸ Cross-encoder re-ranks to final top-5</a:t>
            </a:r>
          </a:p>
          <a:p>
            <a:pPr algn="l">
              <a:spcBef>
                <a:spcPts val="300"/>
              </a:spcBef>
            </a:pPr>
            <a:r>
              <a:rPr sz="900" b="0" i="0">
                <a:solidFill>
                  <a:srgbClr val="FFFFFF"/>
                </a:solidFill>
              </a:rPr>
              <a:t>▸ Precision boost with bi-encoder speed</a:t>
            </a:r>
          </a:p>
          <a:p>
            <a:pPr algn="l">
              <a:spcBef>
                <a:spcPts val="300"/>
              </a:spcBef>
            </a:pPr>
            <a:r>
              <a:rPr sz="900" b="0" i="0">
                <a:solidFill>
                  <a:srgbClr val="FFFFFF"/>
                </a:solidFill>
              </a:rPr>
              <a:t>▸ Model: ms-marco-MiniLM-L-6-v2</a:t>
            </a:r>
          </a:p>
          <a:p>
            <a:pPr algn="l">
              <a:spcBef>
                <a:spcPts val="300"/>
              </a:spcBef>
            </a:pPr>
            <a:r>
              <a:rPr sz="900" b="0" i="0">
                <a:solidFill>
                  <a:srgbClr val="FFFFFF"/>
                </a:solidFill>
              </a:rPr>
              <a:t>▸ No FAISS change required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0" y="1005840"/>
            <a:ext cx="3657600" cy="2542032"/>
          </a:xfrm>
          <a:prstGeom prst="rect">
            <a:avLst/>
          </a:prstGeom>
          <a:solidFill>
            <a:srgbClr val="0D38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66760" y="1078992"/>
            <a:ext cx="3383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100" b="1" i="0">
                <a:solidFill>
                  <a:srgbClr val="007A87"/>
                </a:solidFill>
              </a:rPr>
              <a:t>HNSW index for 1M+ scale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66760" y="1353312"/>
            <a:ext cx="3383280" cy="21214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300"/>
              </a:spcBef>
            </a:pPr>
            <a:r>
              <a:rPr sz="900" b="0" i="0">
                <a:solidFill>
                  <a:srgbClr val="FFFFFF"/>
                </a:solidFill>
              </a:rPr>
              <a:t>▸ IndexHNSWFlat: O(log N) per query</a:t>
            </a:r>
          </a:p>
          <a:p>
            <a:pPr algn="l">
              <a:spcBef>
                <a:spcPts val="300"/>
              </a:spcBef>
            </a:pPr>
            <a:r>
              <a:rPr sz="900" b="0" i="0">
                <a:solidFill>
                  <a:srgbClr val="FFFFFF"/>
                </a:solidFill>
              </a:rPr>
              <a:t>▸ ~99% accuracy vs exact search</a:t>
            </a:r>
          </a:p>
          <a:p>
            <a:pPr algn="l">
              <a:spcBef>
                <a:spcPts val="300"/>
              </a:spcBef>
            </a:pPr>
            <a:r>
              <a:rPr sz="900" b="0" i="0">
                <a:solidFill>
                  <a:srgbClr val="FFFFFF"/>
                </a:solidFill>
              </a:rPr>
              <a:t>▸ Graph overhead: 32 bytes/vector</a:t>
            </a:r>
          </a:p>
          <a:p>
            <a:pPr algn="l">
              <a:spcBef>
                <a:spcPts val="300"/>
              </a:spcBef>
            </a:pPr>
            <a:r>
              <a:rPr sz="900" b="0" i="0">
                <a:solidFill>
                  <a:srgbClr val="FFFFFF"/>
                </a:solidFill>
              </a:rPr>
              <a:t>▸ Zero code change — same search() API</a:t>
            </a:r>
          </a:p>
          <a:p>
            <a:pPr algn="l">
              <a:spcBef>
                <a:spcPts val="300"/>
              </a:spcBef>
            </a:pPr>
            <a:r>
              <a:rPr sz="900" b="0" i="0">
                <a:solidFill>
                  <a:srgbClr val="FFFFFF"/>
                </a:solidFill>
              </a:rPr>
              <a:t>▸ Trigger: query latency &gt; 50ms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3602736"/>
            <a:ext cx="3657600" cy="2542032"/>
          </a:xfrm>
          <a:prstGeom prst="rect">
            <a:avLst/>
          </a:prstGeom>
          <a:solidFill>
            <a:srgbClr val="0D38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3675887"/>
            <a:ext cx="3383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100" b="1" i="0">
                <a:solidFill>
                  <a:srgbClr val="007A87"/>
                </a:solidFill>
              </a:rPr>
              <a:t>PHI de-identification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3950208"/>
            <a:ext cx="3383280" cy="21214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300"/>
              </a:spcBef>
            </a:pPr>
            <a:r>
              <a:rPr sz="900" b="0" i="0">
                <a:solidFill>
                  <a:srgbClr val="FFFFFF"/>
                </a:solidFill>
              </a:rPr>
              <a:t>▸ NLP-based PHI detection (Presidio/spaCy)</a:t>
            </a:r>
          </a:p>
          <a:p>
            <a:pPr algn="l">
              <a:spcBef>
                <a:spcPts val="300"/>
              </a:spcBef>
            </a:pPr>
            <a:r>
              <a:rPr sz="900" b="0" i="0">
                <a:solidFill>
                  <a:srgbClr val="FFFFFF"/>
                </a:solidFill>
              </a:rPr>
              <a:t>▸ Mask patient names, DOBs, MRN numbers</a:t>
            </a:r>
          </a:p>
          <a:p>
            <a:pPr algn="l">
              <a:spcBef>
                <a:spcPts val="300"/>
              </a:spcBef>
            </a:pPr>
            <a:r>
              <a:rPr sz="900" b="0" i="0">
                <a:solidFill>
                  <a:srgbClr val="FFFFFF"/>
                </a:solidFill>
              </a:rPr>
              <a:t>▸ Required before production deployment</a:t>
            </a:r>
          </a:p>
          <a:p>
            <a:pPr algn="l">
              <a:spcBef>
                <a:spcPts val="300"/>
              </a:spcBef>
            </a:pPr>
            <a:r>
              <a:rPr sz="900" b="0" i="0">
                <a:solidFill>
                  <a:srgbClr val="FFFFFF"/>
                </a:solidFill>
              </a:rPr>
              <a:t>▸ Must run before embedding and ingest</a:t>
            </a:r>
          </a:p>
          <a:p>
            <a:pPr algn="l">
              <a:spcBef>
                <a:spcPts val="300"/>
              </a:spcBef>
            </a:pPr>
            <a:r>
              <a:rPr sz="900" b="0" i="0">
                <a:solidFill>
                  <a:srgbClr val="FFFFFF"/>
                </a:solidFill>
              </a:rPr>
              <a:t>▸ Compliance: HIPAA / PDPA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97680" y="3602736"/>
            <a:ext cx="3657600" cy="2542032"/>
          </a:xfrm>
          <a:prstGeom prst="rect">
            <a:avLst/>
          </a:prstGeom>
          <a:solidFill>
            <a:srgbClr val="0D38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34840" y="3675887"/>
            <a:ext cx="3383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100" b="1" i="0">
                <a:solidFill>
                  <a:srgbClr val="007A87"/>
                </a:solidFill>
              </a:rPr>
              <a:t>Auth &amp; rate limiting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34840" y="3950208"/>
            <a:ext cx="3383280" cy="21214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300"/>
              </a:spcBef>
            </a:pPr>
            <a:r>
              <a:rPr sz="900" b="0" i="0">
                <a:solidFill>
                  <a:srgbClr val="FFFFFF"/>
                </a:solidFill>
              </a:rPr>
              <a:t>▸ JWT authentication per doctor/user</a:t>
            </a:r>
          </a:p>
          <a:p>
            <a:pPr algn="l">
              <a:spcBef>
                <a:spcPts val="300"/>
              </a:spcBef>
            </a:pPr>
            <a:r>
              <a:rPr sz="900" b="0" i="0">
                <a:solidFill>
                  <a:srgbClr val="FFFFFF"/>
                </a:solidFill>
              </a:rPr>
              <a:t>▸ Per-user quota: N queries per minute</a:t>
            </a:r>
          </a:p>
          <a:p>
            <a:pPr algn="l">
              <a:spcBef>
                <a:spcPts val="300"/>
              </a:spcBef>
            </a:pPr>
            <a:r>
              <a:rPr sz="900" b="0" i="0">
                <a:solidFill>
                  <a:srgbClr val="FFFFFF"/>
                </a:solidFill>
              </a:rPr>
              <a:t>▸ FastAPI middleware (python-jose)</a:t>
            </a:r>
          </a:p>
          <a:p>
            <a:pPr algn="l">
              <a:spcBef>
                <a:spcPts val="300"/>
              </a:spcBef>
            </a:pPr>
            <a:r>
              <a:rPr sz="900" b="0" i="0">
                <a:solidFill>
                  <a:srgbClr val="FFFFFF"/>
                </a:solidFill>
              </a:rPr>
              <a:t>▸ Log all queries for audit trail</a:t>
            </a:r>
          </a:p>
          <a:p>
            <a:pPr algn="l">
              <a:spcBef>
                <a:spcPts val="300"/>
              </a:spcBef>
            </a:pPr>
            <a:r>
              <a:rPr sz="900" b="0" i="0">
                <a:solidFill>
                  <a:srgbClr val="FFFFFF"/>
                </a:solidFill>
              </a:rPr>
              <a:t>▸ Role-based access (admin/clinician)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0" y="3602736"/>
            <a:ext cx="3657600" cy="2542032"/>
          </a:xfrm>
          <a:prstGeom prst="rect">
            <a:avLst/>
          </a:prstGeom>
          <a:solidFill>
            <a:srgbClr val="0D38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66760" y="3675887"/>
            <a:ext cx="3383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100" b="1" i="0">
                <a:solidFill>
                  <a:srgbClr val="007A87"/>
                </a:solidFill>
              </a:rPr>
              <a:t>Async background indexing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66760" y="3950208"/>
            <a:ext cx="3383280" cy="21214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300"/>
              </a:spcBef>
            </a:pPr>
            <a:r>
              <a:rPr sz="900" b="0" i="0">
                <a:solidFill>
                  <a:srgbClr val="FFFFFF"/>
                </a:solidFill>
              </a:rPr>
              <a:t>▸ New notes added without API downtime</a:t>
            </a:r>
          </a:p>
          <a:p>
            <a:pPr algn="l">
              <a:spcBef>
                <a:spcPts val="300"/>
              </a:spcBef>
            </a:pPr>
            <a:r>
              <a:rPr sz="900" b="0" i="0">
                <a:solidFill>
                  <a:srgbClr val="FFFFFF"/>
                </a:solidFill>
              </a:rPr>
              <a:t>▸ Background worker embeds + inserts</a:t>
            </a:r>
          </a:p>
          <a:p>
            <a:pPr algn="l">
              <a:spcBef>
                <a:spcPts val="300"/>
              </a:spcBef>
            </a:pPr>
            <a:r>
              <a:rPr sz="900" b="0" i="0">
                <a:solidFill>
                  <a:srgbClr val="FFFFFF"/>
                </a:solidFill>
              </a:rPr>
              <a:t>▸ FAISS add_with_ids() for incremental</a:t>
            </a:r>
          </a:p>
          <a:p>
            <a:pPr algn="l">
              <a:spcBef>
                <a:spcPts val="300"/>
              </a:spcBef>
            </a:pPr>
            <a:r>
              <a:rPr sz="900" b="0" i="0">
                <a:solidFill>
                  <a:srgbClr val="FFFFFF"/>
                </a:solidFill>
              </a:rPr>
              <a:t>▸ Rebuild index nightly for clean state</a:t>
            </a:r>
          </a:p>
          <a:p>
            <a:pPr algn="l">
              <a:spcBef>
                <a:spcPts val="300"/>
              </a:spcBef>
            </a:pPr>
            <a:r>
              <a:rPr sz="900" b="0" i="0">
                <a:solidFill>
                  <a:srgbClr val="FFFFFF"/>
                </a:solidFill>
              </a:rPr>
              <a:t>▸ Queue: Celery or FastAPI BackgroundTasks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6181344"/>
            <a:ext cx="115214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ctr"/>
            <a:r>
              <a:rPr sz="900" b="0" i="0">
                <a:solidFill>
                  <a:srgbClr val="55657A"/>
                </a:solidFill>
              </a:rPr>
              <a:t>Clinical AI Take-Home Exam  ·  Invitrace Co., Ltd.  ·  June 2026  ·  30 slides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r"/>
            <a:r>
              <a:rPr sz="900" b="0" i="0">
                <a:solidFill>
                  <a:srgbClr val="55657A"/>
                </a:solidFill>
              </a:rPr>
              <a:t>30/30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