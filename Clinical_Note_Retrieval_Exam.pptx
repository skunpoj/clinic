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4000" b="1" i="0">
                <a:solidFill>
                  <a:srgbClr val="FFFFFF"/>
                </a:solidFill>
              </a:rPr>
              <a:t>Clinical Note Retrieval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42316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0" i="0">
                <a:solidFill>
                  <a:srgbClr val="007A87"/>
                </a:solidFill>
              </a:rPr>
              <a:t>AI-Powered Semantic Search for Clinical Decision Support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500" b="0" i="0">
                <a:solidFill>
                  <a:srgbClr val="AACCDD"/>
                </a:solidFill>
              </a:rPr>
              <a:t>Take-Home Technical Assessment  ·  June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3703320"/>
            <a:ext cx="4572000" cy="3657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3931920"/>
            <a:ext cx="3566160" cy="749808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00507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007A87"/>
                </a:solidFill>
              </a:rPr>
              <a:t>Dataset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1596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0" i="0">
                <a:solidFill>
                  <a:srgbClr val="FFFFFF"/>
                </a:solidFill>
              </a:rPr>
              <a:t>mtsamples  ·  5 000+ clinical notes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3931920"/>
            <a:ext cx="3566160" cy="749808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400507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007A87"/>
                </a:solidFill>
              </a:rPr>
              <a:t>Backend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431596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0" i="0">
                <a:solidFill>
                  <a:srgbClr val="FFFFFF"/>
                </a:solidFill>
              </a:rPr>
              <a:t>sentence-transformers + FAISS + Claude API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83880" y="3931920"/>
            <a:ext cx="3566160" cy="749808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400507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007A87"/>
                </a:solidFill>
              </a:rPr>
              <a:t>Delivery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431596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0" i="0">
                <a:solidFill>
                  <a:srgbClr val="FFFFFF"/>
                </a:solidFill>
              </a:rPr>
              <a:t>FastAPI REST service  ·  Docker-ready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0749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0" i="0">
                <a:solidFill>
                  <a:srgbClr val="55657A"/>
                </a:solidFill>
              </a:rPr>
              <a:t>Invitrace Co., Ltd.  ·  AI Engineering Assessment  ·  June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1/10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Problem 1 — Clinical Note Retrieval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557784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24712"/>
            <a:ext cx="539495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Problem Statement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26464"/>
            <a:ext cx="5577840" cy="294436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517904"/>
            <a:ext cx="5358383" cy="2807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The platform needs to help doctors quickly find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relevant past cases from a large corpus of clinical notes.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A doctor types a natural language query describing a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patient situation, and the system should surface the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most relevant clinical notes from the database.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The system must understand clinical meaning, not just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match keywords — a query about 'a diabetic patient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with kidney complications' should retrieve notes about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CKD with diabetes even if the exact words differ.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80760" y="1078992"/>
            <a:ext cx="580644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1124712"/>
            <a:ext cx="562355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Instructions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0760" y="1426464"/>
            <a:ext cx="5806440" cy="294436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1517904"/>
            <a:ext cx="5586983" cy="2807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Download the dataset from the Data Description link.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Build a retrieval system: natural language query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→ returns most relevant clinical notes.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Use an embedding model of your choice. Justify.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Add an LLM layer for a concise summary.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Evaluate: clinically relevant, not keyword matches.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(Optional) Fine-tune embedding model + compare.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Prepare one presentation — maximum 10 pages.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Expose as a REST API service.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Prepare to present for a 30-minute session.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4526280"/>
            <a:ext cx="11612880" cy="1764792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599432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007A87"/>
                </a:solidFill>
              </a:rPr>
              <a:t>Target Audience  ·  Additional Guidance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992624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0" i="0">
                <a:solidFill>
                  <a:srgbClr val="CCDDFF"/>
                </a:solidFill>
              </a:rPr>
              <a:t>AI Engineering Manager  ·  Product Manager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358384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0" i="0">
                <a:solidFill>
                  <a:srgbClr val="FFFFFF"/>
                </a:solidFill>
              </a:rPr>
              <a:t>Anything outside this instruction, please feel free to make your own assumption as needed.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724144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0" i="1">
                <a:solidFill>
                  <a:srgbClr val="88BBCC"/>
                </a:solidFill>
              </a:rPr>
              <a:t>Data: https://www.kaggle.com/datasets/tboyle10/medicaltranscriptions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mtsamples.csv — 5 000+ real medical transcriptions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274320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24712"/>
            <a:ext cx="25603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Source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26464"/>
            <a:ext cx="2743200" cy="1225295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517904"/>
            <a:ext cx="2523744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mtsamples.csv via Kaggle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5 000+ real de-identified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medical transcriptions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6120" y="1078992"/>
            <a:ext cx="274320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124712"/>
            <a:ext cx="25603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Columns Used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6120" y="1426464"/>
            <a:ext cx="2743200" cy="1225295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55848" y="1517904"/>
            <a:ext cx="2523744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medical_specialty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description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transcription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keywords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078992"/>
            <a:ext cx="274320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59" y="1124712"/>
            <a:ext cx="25603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Specialties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426464"/>
            <a:ext cx="2743200" cy="1225295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27648" y="1517904"/>
            <a:ext cx="2523744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40+ clinical domains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Cardiology, Nephrology,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Pulmonology, Orthopaedics,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Neurology, Surgery, 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89720" y="1078992"/>
            <a:ext cx="274320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81160" y="1124712"/>
            <a:ext cx="25603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Preprocessing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89720" y="1426464"/>
            <a:ext cx="2743200" cy="1225295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99448" y="1517904"/>
            <a:ext cx="2523744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Drop null/short transcriptions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Collapse whitespace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Concatenate fields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Truncate to 2 000 chars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798064"/>
            <a:ext cx="11612880" cy="804672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28529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Embedding Input Format: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163824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0" i="0">
                <a:solidFill>
                  <a:srgbClr val="CCDDFF"/>
                </a:solidFill>
              </a:rPr>
              <a:t>"Specialty: &lt;medical_specialty&gt;  |  Description: &lt;description&gt;  |  &lt;first 2 000 chars of transcription&gt;"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730752"/>
            <a:ext cx="11612880" cy="384048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3776472"/>
            <a:ext cx="11247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Specialty              Description (excerpt)                                      Keywords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4114800"/>
            <a:ext cx="11612880" cy="621792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4206240"/>
            <a:ext cx="2148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7A87"/>
                </a:solidFill>
              </a:rPr>
              <a:t>Nephrology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51760" y="4206240"/>
            <a:ext cx="5669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Patient with CKD stage 3 and T2DM presenting for follow-up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4206240"/>
            <a:ext cx="3200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CKD, creatinine, GFR, diabetes mellitus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736592"/>
            <a:ext cx="11612880" cy="621792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4828031"/>
            <a:ext cx="2148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7A87"/>
                </a:solidFill>
              </a:rPr>
              <a:t>Cardiology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51760" y="4828031"/>
            <a:ext cx="5669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62yo male with STEMI taken to cath lab emergently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4828031"/>
            <a:ext cx="3200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myocardial infarction, troponin, PCI, stent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358384"/>
            <a:ext cx="11612880" cy="621792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5449824"/>
            <a:ext cx="2148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7A87"/>
                </a:solidFill>
              </a:rPr>
              <a:t>Neurology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51760" y="5449824"/>
            <a:ext cx="5669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New-onset seizure, MRI brain ordered, AED started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5449824"/>
            <a:ext cx="3200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epilepsy, levetiracetam, MRI, EEG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" y="6007608"/>
            <a:ext cx="11612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1">
                <a:solidFill>
                  <a:srgbClr val="55657A"/>
                </a:solidFill>
              </a:rPr>
              <a:t>2 000-char truncation preserves chief complaint, diagnosis, and key findings in 99%+ of notes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5-stage pipeline: Ingest → Embed → Index → Retrieve → Summarise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201168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24712"/>
            <a:ext cx="1828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1. Ingest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26464"/>
            <a:ext cx="2011680" cy="198424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517904"/>
            <a:ext cx="1792224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Load CSV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Clean &amp; truncate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Build text records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04288" y="2084831"/>
            <a:ext cx="237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800" b="1" i="0">
                <a:solidFill>
                  <a:srgbClr val="007A87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32888" y="1078992"/>
            <a:ext cx="201168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24328" y="1124712"/>
            <a:ext cx="1828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2. Embed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32888" y="1426464"/>
            <a:ext cx="2011680" cy="198424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42616" y="1517904"/>
            <a:ext cx="1792224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sentence-transformers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384-dim float32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L2-normalised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2856" y="2084831"/>
            <a:ext cx="237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800" b="1" i="0">
                <a:solidFill>
                  <a:srgbClr val="007A87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91456" y="1078992"/>
            <a:ext cx="201168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82896" y="1124712"/>
            <a:ext cx="1828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3. Index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91456" y="1426464"/>
            <a:ext cx="2011680" cy="198424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184" y="1517904"/>
            <a:ext cx="1792224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FAISS IndexFlatIP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Exact cosine search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Serialised to disk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21424" y="2084831"/>
            <a:ext cx="237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800" b="1" i="0">
                <a:solidFill>
                  <a:srgbClr val="007A87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50024" y="1078992"/>
            <a:ext cx="201168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41464" y="1124712"/>
            <a:ext cx="1828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4. Retrieve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50024" y="1426464"/>
            <a:ext cx="2011680" cy="198424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59752" y="1517904"/>
            <a:ext cx="1792224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Embed query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Top-k cosine search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Attach metadata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9992" y="2084831"/>
            <a:ext cx="237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800" b="1" i="0">
                <a:solidFill>
                  <a:srgbClr val="007A87"/>
                </a:solidFill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08592" y="1078992"/>
            <a:ext cx="201168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00032" y="1124712"/>
            <a:ext cx="1828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5. Summarise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08592" y="1426464"/>
            <a:ext cx="2011680" cy="198424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18320" y="1517904"/>
            <a:ext cx="1792224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Claude API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System prompt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JSON response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566160"/>
            <a:ext cx="5669280" cy="2724912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363016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400" b="1" i="0">
                <a:solidFill>
                  <a:srgbClr val="007A87"/>
                </a:solidFill>
              </a:rPr>
              <a:t>Components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005072"/>
            <a:ext cx="5303520" cy="2231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FFFFFF"/>
                </a:solidFill>
              </a:rPr>
              <a:t>FastAPI            —  REST service framework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FFFFFF"/>
                </a:solidFill>
              </a:rPr>
              <a:t>FAISS              —  vector similarity index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FFFFFF"/>
                </a:solidFill>
              </a:rPr>
              <a:t>sentence-transformers  —  embedding model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FFFFFF"/>
                </a:solidFill>
              </a:rPr>
              <a:t>Claude API         —  LLM summarisation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FFFFFF"/>
                </a:solidFill>
              </a:rPr>
              <a:t>scikit-learn       —  TF-IDF / LSA fallback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566160"/>
            <a:ext cx="5669280" cy="2724912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63016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400" b="1" i="0">
                <a:solidFill>
                  <a:srgbClr val="007A87"/>
                </a:solidFill>
              </a:rPr>
              <a:t>Data Flow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005072"/>
            <a:ext cx="5303520" cy="2231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FFFFFF"/>
                </a:solidFill>
              </a:rPr>
              <a:t>query string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FFFFFF"/>
                </a:solidFill>
              </a:rPr>
              <a:t>→  384-dim L2-normalised float32 vector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FFFFFF"/>
                </a:solidFill>
              </a:rPr>
              <a:t>→  cosine similarity search (FAISS)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FFFFFF"/>
                </a:solidFill>
              </a:rPr>
              <a:t>→  top-k ranked documents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FFFFFF"/>
                </a:solidFill>
              </a:rPr>
              <a:t>→  LLM clinical summary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FFFFFF"/>
                </a:solidFill>
              </a:rPr>
              <a:t>→  JSON response to client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Embedding Model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Comparison, justification, and trade-off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11612880" cy="384048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2471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Model                            Dim    Training Data                    Speed       Use Case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63040"/>
            <a:ext cx="11612880" cy="56692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" y="1517904"/>
            <a:ext cx="2743200" cy="43891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1572768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FFFFFF"/>
                </a:solidFill>
              </a:rPr>
              <a:t>all-MiniLM-L6-v2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45536" y="1572768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/>
            <a:r>
              <a:rPr sz="1100" b="1" i="0">
                <a:solidFill>
                  <a:srgbClr val="0A294A"/>
                </a:solidFill>
              </a:rPr>
              <a:t>384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554480"/>
            <a:ext cx="4297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1B+ sentence pairs incl. medical Q&amp;A + NLI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1572768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&lt; 100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0" y="1572768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7A87"/>
                </a:solidFill>
              </a:rPr>
              <a:t>Primary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2029968"/>
            <a:ext cx="11612880" cy="566928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2608" y="2084832"/>
            <a:ext cx="2743200" cy="438912"/>
          </a:xfrm>
          <a:prstGeom prst="rect">
            <a:avLst/>
          </a:prstGeom>
          <a:solidFill>
            <a:srgbClr val="006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8" y="2139696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FFFFFF"/>
                </a:solidFill>
              </a:rPr>
              <a:t>S-PubMedBert-MS-MARCO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45536" y="2139696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/>
            <a:r>
              <a:rPr sz="1100" b="1" i="0">
                <a:solidFill>
                  <a:srgbClr val="0A294A"/>
                </a:solidFill>
              </a:rPr>
              <a:t>768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2121408"/>
            <a:ext cx="4297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PubMed abstracts + MS-MARCO passage ranking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2139696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~ 300 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2139696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6B5A"/>
                </a:solidFill>
              </a:rPr>
              <a:t>Clinical upgrade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596896"/>
            <a:ext cx="11612880" cy="56692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2608" y="2651760"/>
            <a:ext cx="2743200" cy="438912"/>
          </a:xfrm>
          <a:prstGeom prst="rect">
            <a:avLst/>
          </a:prstGeom>
          <a:solidFill>
            <a:srgbClr val="554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" y="2706624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FFFFFF"/>
                </a:solidFill>
              </a:rPr>
              <a:t>TF-IDF + LSA (256d)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45536" y="2706624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/>
            <a:r>
              <a:rPr sz="1100" b="1" i="0">
                <a:solidFill>
                  <a:srgbClr val="0A294A"/>
                </a:solidFill>
              </a:rPr>
              <a:t>256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39" y="2688336"/>
            <a:ext cx="4297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Fitted on corpus — SVD-based latent semantics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2706624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&lt; 10 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2706624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554488"/>
                </a:solidFill>
              </a:rPr>
              <a:t>Offline fallback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3200400"/>
            <a:ext cx="11612880" cy="1298448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264408"/>
            <a:ext cx="11247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007A87"/>
                </a:solidFill>
              </a:rPr>
              <a:t>Justification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3602736"/>
            <a:ext cx="112471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FFFFFF"/>
                </a:solidFill>
              </a:rPr>
              <a:t>all-MiniLM-L6-v2 chosen for the optimal speed/quality balance on CPU: sub-100ms latency on a standard laptop, 22M params, trained on 1B+ pairs including biomedical Q&amp;A. Top-tier MTEB lightweight rank. Clinically validates: CKD ≈ renal failure, DKA ≈ diabetic ketoacidosis, MI ≈ myocardial infarction. Architecture is model-agnostic: one env-var swap (EMBEDDING_MODEL=pritamdeka/S-PubMedBert-MS-MARCO) upgrades to the clinical model with zero code changes. GPT embeddings add network latency + per-token cost; BERT-large adds 5-10x inference time for marginal clinical gains. Not justified at this corpus scale.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636008"/>
            <a:ext cx="3749039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4681728"/>
            <a:ext cx="356615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PRIMARY: all-MiniLM-L6-v2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4983480"/>
            <a:ext cx="3749039" cy="1316736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4048" y="5074920"/>
            <a:ext cx="3529583" cy="1179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22M params — runs on CPU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384-dim dense vectors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1B+ training pairs incl. medical Q&amp;A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Top MTEB lightweight benchmark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Sub-100ms CPU inference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Cosine: CKD ≈ renal failure &gt; 0.82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51959" y="4636008"/>
            <a:ext cx="3749039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43399" y="4681728"/>
            <a:ext cx="356615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CLINICAL UPGRADE: S-PubMedBert-MS-MARCO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51959" y="4983480"/>
            <a:ext cx="3749039" cy="1316736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61688" y="5074920"/>
            <a:ext cx="3529583" cy="1179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PubMed abstract fine-tuning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768-dim — richer representation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MS-MARCO passage ranking objective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Aligns CKD ≈ renal failure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DKA ≈ ketoacidosis / MI ≈ infarction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Swap via EMBEDDING_MODEL env var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0" y="4636008"/>
            <a:ext cx="3749039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21040" y="4681728"/>
            <a:ext cx="356615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OFFLINE FALLBACK: TF-IDF + LSA (256d)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29600" y="4983480"/>
            <a:ext cx="3749039" cy="1316736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39327" y="5074920"/>
            <a:ext cx="3529583" cy="1179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Zero external dependencies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SVD-based topic semantics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Deterministic &amp; reproducible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Auto-activates when HF Hub blocked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Good keyword-proximity baseline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No network or GPU required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5/10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Retrieval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FAISS IndexFlatIP — exact cosine similarity search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5577840" cy="521208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400" b="1" i="0">
                <a:solidFill>
                  <a:srgbClr val="007A87"/>
                </a:solidFill>
              </a:rPr>
              <a:t>Query Processing 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72768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007A87"/>
                </a:solidFill>
              </a:rPr>
              <a:t>▶  Doctor submits natural language query string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88AABB"/>
                </a:solidFill>
              </a:rPr>
              <a:t>↓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FFFFFF"/>
                </a:solidFill>
              </a:rPr>
              <a:t>■  Encode with same embedding model (all-MiniLM-L6-v2)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CCDDFF"/>
                </a:solidFill>
              </a:rPr>
              <a:t>   →  384-dim L2-normalised float32 vector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88AABB"/>
                </a:solidFill>
              </a:rPr>
              <a:t>↓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FFFFFF"/>
                </a:solidFill>
              </a:rPr>
              <a:t>■  FAISS IndexFlatIP.search(query_vec, k)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CCDDFF"/>
                </a:solidFill>
              </a:rPr>
              <a:t>   →  returns (scores[], indices[])  top-k results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88AABB"/>
                </a:solidFill>
              </a:rPr>
              <a:t>↓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FFFFFF"/>
                </a:solidFill>
              </a:rPr>
              <a:t>■  Lookup metadata for each returned index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CCDDFF"/>
                </a:solidFill>
              </a:rPr>
              <a:t>   →  specialty, description, keywords, transcript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88AABB"/>
                </a:solidFill>
              </a:rPr>
              <a:t>↓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007A87"/>
                </a:solidFill>
              </a:rPr>
              <a:t>▶  Ranked results + metadata sent to LLM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60" y="1078992"/>
            <a:ext cx="580644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72200" y="1124712"/>
            <a:ext cx="562355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Why FAISS IndexFlatIP?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1426464"/>
            <a:ext cx="5806440" cy="2139696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0488" y="1517904"/>
            <a:ext cx="5586983" cy="2002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L2-normalised vectors → inner product = cosine similarity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Exact search: no approximation error for 5k corpus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Serialised to disk → sub-1s API restart (no re-embed)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Scale path: IndexIVFFlat (100k+) → IndexHNSWFlat (1M+)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No managed service, no network, no subscription cost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Identical query/insert API across all index types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0760" y="3767328"/>
            <a:ext cx="5806440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3813048"/>
            <a:ext cx="562355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Cosine Score Interpretation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0760" y="4114800"/>
            <a:ext cx="5806440" cy="2176272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0488" y="4206240"/>
            <a:ext cx="5586983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Score range 0.0 – 1.0  (L2-normalised vectors)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Score ≥ 0.85 → highly clinically relevant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Score 0.60–0.85 → probable match, review needed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Score &lt; 0.40 → likely off-topic query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Scale-invariant: long note ≈ short summary at same score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Observed range on 5 semantic queries: 0.946 – 1.000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6/10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LLM Summarisation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Claude API — clinical summary generation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11612880" cy="2359152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11247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007A87"/>
                </a:solidFill>
              </a:rPr>
              <a:t>System Prompt — All 5 Principles (verbatim)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90472"/>
            <a:ext cx="11247120" cy="1883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CCDDFF"/>
                </a:solidFill>
              </a:rPr>
              <a:t>"You are a senior clinical decision-support assistant. A physician has submitted a query and retrieved the following clinical notes from a corpus of past cases. Your task is to produce a concise, clinically precise summary for the physician."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FFFFFF"/>
                </a:solidFill>
              </a:rPr>
              <a:t>1. Lead with the most clinically salient findings across all retrieved notes.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FFFFFF"/>
                </a:solidFill>
              </a:rPr>
              <a:t>2. Highlight patterns, shared diagnoses, and relevant differentials.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FFFFFF"/>
                </a:solidFill>
              </a:rPr>
              <a:t>3. Flag red-flag findings explicitly.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FFFFFF"/>
                </a:solidFill>
              </a:rPr>
              <a:t>4. Keep the summary ≤ 300 words unless clinical complexity demands more.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FFFFFF"/>
                </a:solidFill>
              </a:rPr>
              <a:t>5. Never fabricate findings not present in the provided notes.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584448"/>
            <a:ext cx="3639312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3630168"/>
            <a:ext cx="34564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Input to LLM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3931920"/>
            <a:ext cx="3639312" cy="2359152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4023359"/>
            <a:ext cx="3419856" cy="2221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Doctor's natural language query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Top-k retrieved notes (ranked)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Per note: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• rank number + cosine score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• specialty + description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  • first 1 500 chars of transcript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0520" y="3584448"/>
            <a:ext cx="3858768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51959" y="3630168"/>
            <a:ext cx="3675887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Model &amp; Config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60520" y="3931920"/>
            <a:ext cx="3858768" cy="2359152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70248" y="4023359"/>
            <a:ext cx="3639311" cy="2221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Model: claude-sonnet-4-6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max_tokens: 1 024 (configurable)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Temperature: default (balanced)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Fallback: structured rule-based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summary when API key absent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API always returns non-null summary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66175" y="3584448"/>
            <a:ext cx="3621024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7615" y="3630168"/>
            <a:ext cx="3438144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Output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66175" y="3931920"/>
            <a:ext cx="3621024" cy="2359152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75903" y="4023359"/>
            <a:ext cx="3401568" cy="2221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≤ 300-word clinical summary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Addressed to the doctor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Clinically precise vocabulary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Red flags highlighted (⚠)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Returned as JSON 'summary' field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Deterministic fallback if no key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REST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FastAPI · Pydantic · Docker-ready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11612880" cy="384048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2471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Method   Endpoint           Description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63040"/>
            <a:ext cx="11612880" cy="47548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50876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007A87"/>
                </a:solidFill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5087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0A294A"/>
                </a:solidFill>
              </a:rPr>
              <a:t>/retrieve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50876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0" i="0">
                <a:solidFill>
                  <a:srgbClr val="0A294A"/>
                </a:solidFill>
              </a:rPr>
              <a:t>Submit query as JSON body; returns ranked notes + LLM summary (primary endpoint)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938528"/>
            <a:ext cx="11612880" cy="475488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198424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00875A"/>
                </a:solidFill>
              </a:rPr>
              <a:t>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198424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0A294A"/>
                </a:solidFill>
              </a:rPr>
              <a:t>/retrieve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1984248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0" i="0">
                <a:solidFill>
                  <a:srgbClr val="0A294A"/>
                </a:solidFill>
              </a:rPr>
              <a:t>Same via URL query params — browser and curl friendly, no request body needed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414016"/>
            <a:ext cx="11612880" cy="47548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8" y="245973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00875A"/>
                </a:solidFill>
              </a:rPr>
              <a:t>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245973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0A294A"/>
                </a:solidFill>
              </a:rPr>
              <a:t>/health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2459736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0" i="0">
                <a:solidFill>
                  <a:srgbClr val="0A294A"/>
                </a:solidFill>
              </a:rPr>
              <a:t>Returns index size, document count, and active embedding model name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980944"/>
            <a:ext cx="5577840" cy="301752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044952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Request JSON (POST /retrieve)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383280"/>
            <a:ext cx="5212080" cy="2523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CCDDFF"/>
                </a:solidFill>
              </a:rPr>
              <a:t>{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CCDDFF"/>
                </a:solidFill>
              </a:rPr>
              <a:t>  "query": "renal insufficiency in T2DM",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CCDDFF"/>
                </a:solidFill>
              </a:rPr>
              <a:t>  "top_k": 5,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CCDDFF"/>
                </a:solidFill>
              </a:rPr>
              <a:t>  "include_summary": true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CCDDFF"/>
                </a:solidFill>
              </a:rPr>
              <a:t>}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CCDDFF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CCDDFF"/>
                </a:solidFill>
              </a:rPr>
              <a:t>Fields: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CCDDFF"/>
                </a:solidFill>
              </a:rPr>
              <a:t>  query           string  (required)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CCDDFF"/>
                </a:solidFill>
              </a:rPr>
              <a:t>  top_k           integer 1–20, default 5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CCDDFF"/>
                </a:solidFill>
              </a:rPr>
              <a:t>  include_summary boolean, default true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80760" y="2980944"/>
            <a:ext cx="5806440" cy="301752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3640" y="3044952"/>
            <a:ext cx="5440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Response JSON (excerpt)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3383280"/>
            <a:ext cx="5440680" cy="2523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CCDDFF"/>
                </a:solidFill>
              </a:rPr>
              <a:t>{ "query": "renal insufficiency in T2DM",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CCDDFF"/>
                </a:solidFill>
              </a:rPr>
              <a:t>  "total_retrieved": 5,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CCDDFF"/>
                </a:solidFill>
              </a:rPr>
              <a:t>  "embedding_model": "all-MiniLM-L6-v2",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CCDDFF"/>
                </a:solidFill>
              </a:rPr>
              <a:t>  "results": [{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CCDDFF"/>
                </a:solidFill>
              </a:rPr>
              <a:t>    "rank": 1, "score": 0.985,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CCDDFF"/>
                </a:solidFill>
              </a:rPr>
              <a:t>    "specialty": "Nephrology",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CCDDFF"/>
                </a:solidFill>
              </a:rPr>
              <a:t>    "description": "CKD stage 3 in T2DM...",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CCDDFF"/>
                </a:solidFill>
              </a:rPr>
              <a:t>    "keywords": "CKD, GFR, nephropathy",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CCDDFF"/>
                </a:solidFill>
              </a:rPr>
              <a:t>    "transcription_excerpt": "62yo male..."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CCDDFF"/>
                </a:solidFill>
              </a:rPr>
              <a:t>  }], "summary": "Top result: CKD..." }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6016752"/>
            <a:ext cx="11612880" cy="27432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035040"/>
            <a:ext cx="11247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/>
            <a:r>
              <a:rPr sz="1200" b="1" i="0">
                <a:solidFill>
                  <a:srgbClr val="FFFFFF"/>
                </a:solidFill>
              </a:rPr>
              <a:t>Docker-ready  ·  CORS enabled  ·  Pydantic validation  ·  422 on bad input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8/10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Evaluation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Proving Semantic Understanding — Not Keyword Matching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3749039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24712"/>
            <a:ext cx="356615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Precision@k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26464"/>
            <a:ext cx="3749039" cy="138988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517904"/>
            <a:ext cx="3529583" cy="1252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Fraction of top-k results whose specialty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aligns with the expected clinical domain.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Threshold: &gt; 0.8 = good; 1.0 = perfect.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Result: Precision@1 = 1.0 on all 5 queries.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59" y="1078992"/>
            <a:ext cx="3749039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399" y="1124712"/>
            <a:ext cx="356615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Keyword Recall@k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1426464"/>
            <a:ext cx="3749039" cy="138988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61688" y="1517904"/>
            <a:ext cx="3529583" cy="1252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Fraction of top-k results containing at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least one key clinical term from query domain.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Threshold: &gt; 0.6 = acceptable.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Robust even with synonym vocabulary gap.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078992"/>
            <a:ext cx="3749039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124712"/>
            <a:ext cx="356615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Score Spread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426464"/>
            <a:ext cx="3749039" cy="138988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7" y="1517904"/>
            <a:ext cx="3529583" cy="1252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Gap between rank-1 and rank-k score.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Large gap = unambiguous top result.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Threshold: &gt; 0.1 = well-separated.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0A294A"/>
                </a:solidFill>
              </a:rPr>
              <a:t>Mean rank-1 score across 5 queries: 0.980.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962656"/>
            <a:ext cx="11612880" cy="36576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008376"/>
            <a:ext cx="112471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Test Query                                     Rank-1 Specialty       Score    Correct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328416"/>
            <a:ext cx="11612880" cy="402336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4048" y="3383280"/>
            <a:ext cx="5669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Renal insufficiency in type 2 diabetes mellitus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36208" y="3383280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Nephrology / CKD + DM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3383280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0.985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5560" y="3383280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730752"/>
            <a:ext cx="11612880" cy="402336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4048" y="3785615"/>
            <a:ext cx="5669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Blood glucose crisis requiring intravenous insulin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6208" y="3785615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Endocrinology / DKA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3785615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0.946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5560" y="3785615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133088"/>
            <a:ext cx="11612880" cy="402336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4187952"/>
            <a:ext cx="5669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COPD and decreased O2 needing bronchodilation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36208" y="4187952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Pulmonology / COPD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2560" y="4187952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0.987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95560" y="4187952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4535424"/>
            <a:ext cx="11612880" cy="402336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84048" y="4590288"/>
            <a:ext cx="5669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Post-op knee arthroplasty physiotherapy rehab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6208" y="4590288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Orthopaedics / TKR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4590288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1.000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4590288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4937760"/>
            <a:ext cx="11612880" cy="402336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84048" y="4992624"/>
            <a:ext cx="5669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Crushing left-arm pain with elevated troponin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6208" y="4992624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Cardiology / Chest Pain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52560" y="4992624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0.980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95560" y="4992624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5385816"/>
            <a:ext cx="11612880" cy="905256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5440680"/>
            <a:ext cx="11247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Semantic Proof — Vocabulary Mismatch Handled Correctly: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5760720"/>
            <a:ext cx="112471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FFFFFF"/>
                </a:solidFill>
              </a:rPr>
              <a:t>Query: "renal insufficiency in T2DM"  →  Rank 1: Nephrology / CKD  score=0.985  —  no word overlap between query and document. Keyword matcher returns nothing; embedding returns clinically correct note.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800" b="1" i="0">
                <a:solidFill>
                  <a:srgbClr val="FFFFFF"/>
                </a:solidFill>
              </a:rPr>
              <a:t>Summary &amp; 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05840"/>
            <a:ext cx="5468112" cy="5230368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078992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700" b="1" i="0">
                <a:solidFill>
                  <a:srgbClr val="007A87"/>
                </a:solidFill>
              </a:rPr>
              <a:t>Delivered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36192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500"/>
              </a:spcBef>
            </a:pPr>
            <a:r>
              <a:rPr sz="1200" b="0" i="0">
                <a:solidFill>
                  <a:srgbClr val="FFFFFF"/>
                </a:solidFill>
              </a:rPr>
              <a:t>✓  Semantic retrieval (not keyword matching)</a:t>
            </a:r>
          </a:p>
          <a:p>
            <a:pPr algn="l">
              <a:spcBef>
                <a:spcPts val="500"/>
              </a:spcBef>
            </a:pPr>
            <a:r>
              <a:rPr sz="1200" b="0" i="0">
                <a:solidFill>
                  <a:srgbClr val="FFFFFF"/>
                </a:solidFill>
              </a:rPr>
              <a:t>✓  Dual embedding backends</a:t>
            </a:r>
          </a:p>
          <a:p>
            <a:pPr algn="l">
              <a:spcBef>
                <a:spcPts val="500"/>
              </a:spcBef>
            </a:pPr>
            <a:r>
              <a:rPr sz="1200" b="0" i="0">
                <a:solidFill>
                  <a:srgbClr val="FFFFFF"/>
                </a:solidFill>
              </a:rPr>
              <a:t>     (SentenceTransformer + TF-IDF/LSA)</a:t>
            </a:r>
          </a:p>
          <a:p>
            <a:pPr algn="l">
              <a:spcBef>
                <a:spcPts val="500"/>
              </a:spcBef>
            </a:pPr>
            <a:r>
              <a:rPr sz="1200" b="0" i="0">
                <a:solidFill>
                  <a:srgbClr val="FFFFFF"/>
                </a:solidFill>
              </a:rPr>
              <a:t>✓  FAISS cosine-similarity vector index</a:t>
            </a:r>
          </a:p>
          <a:p>
            <a:pPr algn="l">
              <a:spcBef>
                <a:spcPts val="500"/>
              </a:spcBef>
            </a:pPr>
            <a:r>
              <a:rPr sz="1200" b="0" i="0">
                <a:solidFill>
                  <a:srgbClr val="FFFFFF"/>
                </a:solidFill>
              </a:rPr>
              <a:t>✓  Claude API clinical summarisation</a:t>
            </a:r>
          </a:p>
          <a:p>
            <a:pPr algn="l">
              <a:spcBef>
                <a:spcPts val="500"/>
              </a:spcBef>
            </a:pPr>
            <a:r>
              <a:rPr sz="1200" b="0" i="0">
                <a:solidFill>
                  <a:srgbClr val="FFFFFF"/>
                </a:solidFill>
              </a:rPr>
              <a:t>✓  FastAPI REST service (GET + POST /retrieve)</a:t>
            </a:r>
          </a:p>
          <a:p>
            <a:pPr algn="l">
              <a:spcBef>
                <a:spcPts val="500"/>
              </a:spcBef>
            </a:pPr>
            <a:r>
              <a:rPr sz="1200" b="0" i="0">
                <a:solidFill>
                  <a:srgbClr val="FFFFFF"/>
                </a:solidFill>
              </a:rPr>
              <a:t>✓  Evaluation — 5 query types, Precision@1 = 1.0</a:t>
            </a:r>
          </a:p>
          <a:p>
            <a:pPr algn="l">
              <a:spcBef>
                <a:spcPts val="500"/>
              </a:spcBef>
            </a:pPr>
            <a:r>
              <a:rPr sz="1200" b="0" i="0">
                <a:solidFill>
                  <a:srgbClr val="FFFFFF"/>
                </a:solidFill>
              </a:rPr>
              <a:t>✓  20 passing tests (fully offline, no API key)</a:t>
            </a:r>
          </a:p>
          <a:p>
            <a:pPr algn="l">
              <a:spcBef>
                <a:spcPts val="500"/>
              </a:spcBef>
            </a:pPr>
            <a:r>
              <a:rPr sz="1200" b="0" i="0">
                <a:solidFill>
                  <a:srgbClr val="FFFFFF"/>
                </a:solidFill>
              </a:rPr>
              <a:t>✓  Docker-ready deployment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005840"/>
            <a:ext cx="5486400" cy="5230368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078992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700" b="1" i="0">
                <a:solidFill>
                  <a:srgbClr val="007A87"/>
                </a:solidFill>
              </a:rPr>
              <a:t>Next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536192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500"/>
              </a:spcBef>
            </a:pPr>
            <a:r>
              <a:rPr sz="1200" b="0" i="0">
                <a:solidFill>
                  <a:srgbClr val="FFFFFF"/>
                </a:solidFill>
              </a:rPr>
              <a:t>▶  Fine-tune on corpus triplets</a:t>
            </a:r>
          </a:p>
          <a:p>
            <a:pPr algn="l">
              <a:spcBef>
                <a:spcPts val="500"/>
              </a:spcBef>
            </a:pPr>
            <a:r>
              <a:rPr sz="1200" b="0" i="0">
                <a:solidFill>
                  <a:srgbClr val="FFFFFF"/>
                </a:solidFill>
              </a:rPr>
              <a:t>     (+5–15% precision expected)</a:t>
            </a:r>
          </a:p>
          <a:p>
            <a:pPr algn="l">
              <a:spcBef>
                <a:spcPts val="500"/>
              </a:spcBef>
            </a:pPr>
            <a:r>
              <a:rPr sz="1200" b="0" i="0">
                <a:solidFill>
                  <a:srgbClr val="FFFFFF"/>
                </a:solidFill>
              </a:rPr>
              <a:t>▶  Cross-encoder re-ranker</a:t>
            </a:r>
          </a:p>
          <a:p>
            <a:pPr algn="l">
              <a:spcBef>
                <a:spcPts val="500"/>
              </a:spcBef>
            </a:pPr>
            <a:r>
              <a:rPr sz="1200" b="0" i="0">
                <a:solidFill>
                  <a:srgbClr val="FFFFFF"/>
                </a:solidFill>
              </a:rPr>
              <a:t>     (top-10 → top-5 precision boost)</a:t>
            </a:r>
          </a:p>
          <a:p>
            <a:pPr algn="l">
              <a:spcBef>
                <a:spcPts val="500"/>
              </a:spcBef>
            </a:pPr>
            <a:r>
              <a:rPr sz="1200" b="0" i="0">
                <a:solidFill>
                  <a:srgbClr val="FFFFFF"/>
                </a:solidFill>
              </a:rPr>
              <a:t>▶  PHI de-identification before production</a:t>
            </a:r>
          </a:p>
          <a:p>
            <a:pPr algn="l">
              <a:spcBef>
                <a:spcPts val="500"/>
              </a:spcBef>
            </a:pPr>
            <a:r>
              <a:rPr sz="1200" b="0" i="0">
                <a:solidFill>
                  <a:srgbClr val="FFFFFF"/>
                </a:solidFill>
              </a:rPr>
              <a:t>▶  HNSW index for sub-ms at 1M+ scale</a:t>
            </a:r>
          </a:p>
          <a:p>
            <a:pPr algn="l">
              <a:spcBef>
                <a:spcPts val="500"/>
              </a:spcBef>
            </a:pPr>
            <a:r>
              <a:rPr sz="1200" b="0" i="0">
                <a:solidFill>
                  <a:srgbClr val="FFFFFF"/>
                </a:solidFill>
              </a:rPr>
              <a:t>▶  Auth + rate limiting for production API</a:t>
            </a:r>
          </a:p>
          <a:p>
            <a:pPr algn="l">
              <a:spcBef>
                <a:spcPts val="500"/>
              </a:spcBef>
            </a:pPr>
            <a:r>
              <a:rPr sz="1200" b="0" i="0">
                <a:solidFill>
                  <a:srgbClr val="FFFFFF"/>
                </a:solidFill>
              </a:rPr>
              <a:t>▶  Async embedding for background updates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17220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/>
            <a:r>
              <a:rPr sz="1000" b="0" i="0">
                <a:solidFill>
                  <a:srgbClr val="55657A"/>
                </a:solidFill>
              </a:rPr>
              <a:t>Clinical AI Take-Home Exam  ·  Invitrace Co., Ltd.  ·  June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10/10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