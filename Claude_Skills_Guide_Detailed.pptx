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4000" b="1" i="0">
                <a:solidFill>
                  <a:srgbClr val="FFFFFF"/>
                </a:solidFill>
              </a:rPr>
              <a:t>Custom Skills for 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 i="0">
                <a:solidFill>
                  <a:srgbClr val="C4B5FD"/>
                </a:solidFill>
              </a:rPr>
              <a:t>Detailed Step-by-Step Guide  ·  Build · Deploy · Activate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00400"/>
            <a:ext cx="73152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401568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A592F9"/>
                </a:solidFill>
              </a:rPr>
              <a:t>15 slides  ·  Prerequisites → Folder → SKILL.md → Commit → Activate → Use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A592F9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A592F9"/>
                </a:solidFill>
              </a:rPr>
              <a:t>Covers:   File structure  ·  Writing effective instructions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A592F9"/>
                </a:solidFill>
              </a:rPr>
              <a:t>          Committing &amp; pushing  ·  Mobile app activation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A592F9"/>
                </a:solidFill>
              </a:rPr>
              <a:t>          Debugging  ·  Real examples from this repo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6B7280"/>
                </a:solidFill>
              </a:rPr>
              <a:t>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What Are Claude Skills?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C4B5FD"/>
                </a:solidFill>
              </a:rPr>
              <a:t>Custom slash commands backed by Markdown instructions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669280" cy="347472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What is a Skill?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90472"/>
            <a:ext cx="5669280" cy="5001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581912"/>
            <a:ext cx="5449824" cy="4864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A custom slash command (e.g. /make-pptx)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Defined by a single SKILL.md file in your repo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Claude reads it at session start and registers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the slash command automatically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Lives at:  .claude/skills/&lt;name&gt;/SKILL.md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No server, no plugin, no API key for setup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Activated the moment you push to GitHub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5669280" cy="347472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118872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Why Build Skills?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90472"/>
            <a:ext cx="5669280" cy="5001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581912"/>
            <a:ext cx="5449824" cy="4864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Automate repetitive tasks in one command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Share workflows with your team via Git —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one push, everyone has the skill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Works across Claude Code web, mobile + IDE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Skills are version-controlled with your code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Pass arguments just like a terminal command: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/clinical-query diabetic kidney disease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Consistent, repeatable, documented behaviour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6B7280"/>
                </a:solidFill>
              </a:rP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Prerequisites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C4B5FD"/>
                </a:solidFill>
              </a:rPr>
              <a:t>Three things you need before your first skill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3749039" cy="347472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35661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GitHub Repository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90472"/>
            <a:ext cx="3749039" cy="5001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581912"/>
            <a:ext cx="3529583" cy="4864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✓  Public or private repo on GitHub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✓  You have push access to the branch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  your session will read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✓  Skills must be committed — they are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  just files in the repo, nothing more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✓  Skills on a feature branch are only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  active in sessions using that branch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143000"/>
            <a:ext cx="3749039" cy="347472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399" y="1188720"/>
            <a:ext cx="35661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Claude Mobile 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490472"/>
            <a:ext cx="3749039" cy="5001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581912"/>
            <a:ext cx="3529583" cy="4864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✓  Latest Claude app installed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  (iOS or Android)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✓  Signed in to your Anthropic account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✓  Navigate to the Code tab at the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  bottom of the screen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✓  New sessions re-read the repo —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  skills pushed after start appear next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143000"/>
            <a:ext cx="3749039" cy="347472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188720"/>
            <a:ext cx="35661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Claude Code Session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490472"/>
            <a:ext cx="3749039" cy="5001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7" y="1581912"/>
            <a:ext cx="3529583" cy="4864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✓  A web or desktop session connected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  to your GitHub repository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✓  Session reads .claude/ on startup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✓  Skills registered = slash commands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  appear in the / autocomplete list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✓  To pick up new skills: start a fresh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  session after pushing to GitHub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6B7280"/>
                </a:solidFill>
              </a:rP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Step 1 — Create the Folder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C4B5FD"/>
                </a:solidFill>
              </a:rPr>
              <a:t>The folder name IS the slash command name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49840" y="1051560"/>
            <a:ext cx="1828800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8128" y="1069848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000" b="1" i="0">
                <a:solidFill>
                  <a:srgbClr val="FFFFFF"/>
                </a:solidFill>
              </a:rPr>
              <a:t>Step 1  ·  FOLDER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7132320" cy="35204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61872"/>
            <a:ext cx="6675120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C4B5FD"/>
                </a:solidFill>
              </a:rPr>
              <a:t>Directory tree: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C4B5FD"/>
                </a:solidFill>
              </a:rPr>
              <a:t>your-repo/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C4B5FD"/>
                </a:solidFill>
              </a:rPr>
              <a:t>└── .claude/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C4B5FD"/>
                </a:solidFill>
              </a:rPr>
              <a:t>    └── skills/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C4B5FD"/>
                </a:solidFill>
              </a:rPr>
              <a:t>        ├── make-pptx/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C4B5FD"/>
                </a:solidFill>
              </a:rPr>
              <a:t>        │   ├── SKILL.md       ← required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C4B5FD"/>
                </a:solidFill>
              </a:rPr>
              <a:t>        │   └── pptxgenjs.md   ← optional reference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C4B5FD"/>
                </a:solidFill>
              </a:rPr>
              <a:t>        ├── clinical-query/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C4B5FD"/>
                </a:solidFill>
              </a:rPr>
              <a:t>        │   └── SKILL.md       ← required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C4B5FD"/>
                </a:solidFill>
              </a:rPr>
              <a:t>        └── my-new-skill/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C4B5FD"/>
                </a:solidFill>
              </a:rPr>
              <a:t>            └── SKILL.md       ← required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864608"/>
            <a:ext cx="7132320" cy="171907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974336"/>
            <a:ext cx="67665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7C3AED"/>
                </a:solidFill>
              </a:rPr>
              <a:t>Terminal commands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266944"/>
            <a:ext cx="6766559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6B7280"/>
                </a:solidFill>
              </a:rPr>
              <a:t># Create the folder (replace 'my-skill' with your command name)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mkdir -p .claude/skills/my-skill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6B7280"/>
                </a:solidFill>
              </a:rPr>
              <a:t># Then create the required SKILL.md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touch .claude/skills/my-skill/SKILL.md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1143000"/>
            <a:ext cx="4206240" cy="20116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123444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400" b="1" i="0">
                <a:solidFill>
                  <a:srgbClr val="7C3AED"/>
                </a:solidFill>
              </a:rPr>
              <a:t>The Golden Rule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FFFFFF"/>
                </a:solidFill>
              </a:rPr>
              <a:t>Folder name = slash command</a:t>
            </a:r>
          </a:p>
          <a:p>
            <a:pPr algn="l"/>
            <a:r>
              <a:rPr sz="6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C4B5FD"/>
                </a:solidFill>
              </a:rPr>
              <a:t>make-pptx      →  /make-pptx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C4B5FD"/>
                </a:solidFill>
              </a:rPr>
              <a:t>clinical-query →  /clinical-query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C4B5FD"/>
                </a:solidFill>
              </a:rPr>
              <a:t>my-skill       →  /my-skill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3337560"/>
            <a:ext cx="4206240" cy="347472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3383279"/>
            <a:ext cx="40233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Naming Rules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3685032"/>
            <a:ext cx="4206240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0688" y="3776472"/>
            <a:ext cx="3986783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Use lowercase and hyphens only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No spaces, no underscores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Keep it short — it's typed as /command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Describe the action: deploy-to-aws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not: my-great-automation-tool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5532120"/>
            <a:ext cx="4206240" cy="1051560"/>
          </a:xfrm>
          <a:prstGeom prst="rect">
            <a:avLst/>
          </a:prstGeom>
          <a:solidFill>
            <a:srgbClr val="2D2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5605272"/>
            <a:ext cx="38404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7C3AED"/>
                </a:solidFill>
              </a:rPr>
              <a:t>Only SKILL.md is required.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FFFFFF"/>
                </a:solidFill>
              </a:rPr>
              <a:t>Add other .md files for longer reference guides — keep the folder tidy.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6B7280"/>
                </a:solidFill>
              </a:rP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Step 2a — Write SKILL.md: Header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C4B5FD"/>
                </a:solidFill>
              </a:rPr>
              <a:t>The # heading must exactly match the folder name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49840" y="1051560"/>
            <a:ext cx="1828800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8128" y="1069848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000" b="1" i="0">
                <a:solidFill>
                  <a:srgbClr val="FFFFFF"/>
                </a:solidFill>
              </a:rPr>
              <a:t>Step 2a  ·  HEADER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6949440" cy="54406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65836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C4B5FD"/>
                </a:solidFill>
              </a:rPr>
              <a:t>Full SKILL.md template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7C3AED"/>
                </a:solidFill>
              </a:rPr>
              <a:t># /my-skill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FFFFFF"/>
                </a:solidFill>
              </a:rPr>
              <a:t>One-line description of what this does.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86EFAC"/>
                </a:solidFill>
              </a:rPr>
              <a:t>## Usage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FFFFFF"/>
                </a:solidFill>
              </a:rPr>
              <a:t>/my-skill [optional-argument]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86EFAC"/>
                </a:solidFill>
              </a:rPr>
              <a:t>## What this skill does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FFFFFF"/>
                </a:solidFill>
              </a:rPr>
              <a:t>1. First action Claude will take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FFFFFF"/>
                </a:solidFill>
              </a:rPr>
              <a:t>2. Second action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FFFFFF"/>
                </a:solidFill>
              </a:rPr>
              <a:t>3. Third action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86EFAC"/>
                </a:solidFill>
              </a:rPr>
              <a:t>## Instructions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FFFFFF"/>
                </a:solidFill>
              </a:rPr>
              <a:t>When the user runs /my-skill: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- Do X (be specific: name the file/cmd)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- Then do Y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- Finally deliver Z to the user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86EFAC"/>
                </a:solidFill>
              </a:rPr>
              <a:t>## Output format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FFFFFF"/>
                </a:solidFill>
              </a:rPr>
              <a:t>Describe exactly what Claude should return.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143000"/>
            <a:ext cx="4434840" cy="347472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19" y="1188720"/>
            <a:ext cx="42519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# heading — critical rule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490472"/>
            <a:ext cx="4434840" cy="1069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07807" y="1581912"/>
            <a:ext cx="421538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Must start with  # /skill-name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Must match the folder name exactly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make-pptx/ folder → # /make-pptx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Claude uses this to register the command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2743200"/>
            <a:ext cx="4434840" cy="347472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19" y="2788920"/>
            <a:ext cx="42519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Usage section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3090672"/>
            <a:ext cx="4434840" cy="1069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7807" y="3182112"/>
            <a:ext cx="421538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One line showing the command + args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Use [brackets] for optional args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Example: /my-skill [filename] [--dry-run]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Keep it short — just the signature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79" y="4343400"/>
            <a:ext cx="4434840" cy="347472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19" y="4389120"/>
            <a:ext cx="42519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Output format section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4690872"/>
            <a:ext cx="4434840" cy="1892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7807" y="4782312"/>
            <a:ext cx="4215383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Tell Claude exactly what to return: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A .pptx file delivered to user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A table printed in the chat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A commit pushed to the branch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Without this section Claude decides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the output format on its 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6B7280"/>
                </a:solidFill>
              </a:rP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Step 2b — Write SKILL.md: Instructions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C4B5FD"/>
                </a:solidFill>
              </a:rPr>
              <a:t>The most important part — Claude follows this literally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49840" y="1051560"/>
            <a:ext cx="1828800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8128" y="1069848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000" b="1" i="0">
                <a:solidFill>
                  <a:srgbClr val="FFFFFF"/>
                </a:solidFill>
              </a:rPr>
              <a:t>Step 2b  ·  INSTRUCTIONS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11612880" cy="34747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FFFFFF"/>
                </a:solidFill>
              </a:rPr>
              <a:t>Weak instructions vs. strong instructions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73352"/>
            <a:ext cx="5486400" cy="320040"/>
          </a:xfrm>
          <a:prstGeom prst="rect">
            <a:avLst/>
          </a:prstGeom>
          <a:solidFill>
            <a:srgbClr val="7C2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0078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FFAA66"/>
                </a:solidFill>
              </a:rPr>
              <a:t>WEAK — do not write like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93392"/>
            <a:ext cx="5486400" cy="171907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03120"/>
            <a:ext cx="5120640" cy="1517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6B7280"/>
                </a:solidFill>
              </a:rPr>
              <a:t>## Instructions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When the user invokes /my-skill: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- Analyse the code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- Make it better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- Show the 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673352"/>
            <a:ext cx="5760720" cy="320040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70078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88FFBB"/>
                </a:solidFill>
              </a:rPr>
              <a:t>STRONG — write like this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993392"/>
            <a:ext cx="5760720" cy="171907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103120"/>
            <a:ext cx="5394959" cy="1517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6B7280"/>
                </a:solidFill>
              </a:rPr>
              <a:t>## Instructions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When the user runs /my-skill: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1. Run:  python -m markitdown output.pptx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2. Check for: missing content, typos, wrong order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3. Fix each issue found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4. Deliver output.pptx to the user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5. Commit and push: git add output.pptx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904487"/>
            <a:ext cx="11612880" cy="347472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9319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FFFFFF"/>
                </a:solidFill>
              </a:rPr>
              <a:t>5 rules for effective instructions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251960"/>
            <a:ext cx="11612880" cy="47548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2976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4C1D95"/>
                </a:solidFill>
              </a:rPr>
              <a:t>Name files &amp; commands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29768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1E1B4B"/>
                </a:solidFill>
              </a:rPr>
              <a:t>Say run scripts/make_pptx.py — not 'run the script'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727448"/>
            <a:ext cx="11612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77316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4C1D95"/>
                </a:solidFill>
              </a:rPr>
              <a:t>Specify what to deliver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773168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1E1B4B"/>
                </a:solidFill>
              </a:rPr>
              <a:t>Say 'deliver output.pptx to the user' — Claude won't assume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202936"/>
            <a:ext cx="11612880" cy="47548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24865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4C1D95"/>
                </a:solidFill>
              </a:rPr>
              <a:t>Break into numbered steps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5248656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1E1B4B"/>
                </a:solidFill>
              </a:rPr>
              <a:t>Claude follows numbered lists reliably and in order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678424"/>
            <a:ext cx="11612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72414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4C1D95"/>
                </a:solidFill>
              </a:rPr>
              <a:t>Use if/else for conditionals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5724144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1E1B4B"/>
                </a:solidFill>
              </a:rPr>
              <a:t>If no args given, do X. If --dry-run passed, do Y instead.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6153912"/>
            <a:ext cx="11612880" cy="47548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19963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4C1D95"/>
                </a:solidFill>
              </a:rPr>
              <a:t>Reference other .md files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6199632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1E1B4B"/>
                </a:solidFill>
              </a:rPr>
              <a:t>For long guides: 'Read editing.md for full details'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6B7280"/>
                </a:solidFill>
              </a:rP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Step 3 — Add Supporting Reference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C4B5FD"/>
                </a:solidFill>
              </a:rPr>
              <a:t>Keep SKILL.md short — offload long docs to companion .md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49840" y="1051560"/>
            <a:ext cx="1828800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8128" y="1069848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000" b="1" i="0">
                <a:solidFill>
                  <a:srgbClr val="FFFFFF"/>
                </a:solidFill>
              </a:rPr>
              <a:t>Step 3  ·  DOCS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669280" cy="347472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When to add companion files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90472"/>
            <a:ext cx="5669280" cy="2075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581912"/>
            <a:ext cx="5449824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SKILL.md should stay short (&lt; 100 lines)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so Claude reads it fully and reliably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Move long reference content to other .md files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in the same skills folder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Reference them from Instructions: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"Read pptxgenjs.md for full details"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"See editing.md for the editing workflow"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143000"/>
            <a:ext cx="5760720" cy="347472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188720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What goes in companion files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490472"/>
            <a:ext cx="5760720" cy="2075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581912"/>
            <a:ext cx="5541264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Long code templates or boilerplate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Step-by-step sub-guides (editing, QA, etc.)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Colour palettes, design systems, style guides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API reference snippets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Troubleshooting checklists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Claude will read these when SKILL.md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explicitly tells it 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767328"/>
            <a:ext cx="11612880" cy="34747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7947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FFFFFF"/>
                </a:solidFill>
              </a:rPr>
              <a:t>Example: make-pptx skill file layout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114800"/>
            <a:ext cx="5486400" cy="24688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224528"/>
            <a:ext cx="5120640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.claude/skills/make-pptx/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├── SKILL.md          ← short, ~50 lines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│     Trigger, Usage, Instructions,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│     Output format, QA checklist ref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├── pptxgenjs.md      ← 200+ lines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│     Full PptxGenJS API reference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├── editing.md        ← 150+ lines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│     Unpack/edit/repack workflow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└── README.md         ← optional overview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4114800"/>
            <a:ext cx="5943600" cy="24688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4224528"/>
            <a:ext cx="5577840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6B7280"/>
                </a:solidFill>
              </a:rPr>
              <a:t># In SKILL.md — how to reference companion files: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6B7280"/>
                </a:solidFill>
              </a:rPr>
              <a:t>## Instructions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When the user runs /make-pptx: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1. Run scripts/make_pptx.py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2. Run QA (see QA section below)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3. For editing an existing file: Read editing.md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4. For creating from scratch: Read pptxgenjs.md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5. Deliver the .pptx file to the user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6B7280"/>
                </a:solidFill>
              </a:rP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Step 4 — Commit &amp; Push to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C4B5FD"/>
                </a:solidFill>
              </a:rPr>
              <a:t>Skills only activate once committed to the branch Claude reads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49840" y="1051560"/>
            <a:ext cx="1828800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8128" y="1069848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000" b="1" i="0">
                <a:solidFill>
                  <a:srgbClr val="FFFFFF"/>
                </a:solidFill>
              </a:rPr>
              <a:t>Step 4  ·  GIT PUSH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11612880" cy="2788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5272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7C3AED"/>
                </a:solidFill>
              </a:rPr>
              <a:t>Git commands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45336"/>
            <a:ext cx="11247119" cy="2295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6B7280"/>
                </a:solidFill>
              </a:rPr>
              <a:t># Stage just the skill files (be precise — don't use git add -A)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git add .claude/skills/my-skill/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6B7280"/>
                </a:solidFill>
              </a:rPr>
              <a:t># Commit with a descriptive message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git commit -m "Add /my-skill custom skill"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6B7280"/>
                </a:solidFill>
              </a:rPr>
              <a:t># Push to the branch your Claude Code session is reading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git push -u origin main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6B7280"/>
                </a:solidFill>
              </a:rPr>
              <a:t># If working on a feature branch: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git push -u origin feature/my-branch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6B7280"/>
                </a:solidFill>
              </a:rPr>
              <a:t># Note: skills on a feature branch are only active in sessions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6B7280"/>
                </a:solidFill>
              </a:rPr>
              <a:t>#       connected to that branch — merge to main for everyone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133087"/>
            <a:ext cx="11612880" cy="1417320"/>
          </a:xfrm>
          <a:prstGeom prst="rect">
            <a:avLst/>
          </a:prstGeom>
          <a:solidFill>
            <a:srgbClr val="5C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112471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400" b="1" i="0">
                <a:solidFill>
                  <a:srgbClr val="EA580C"/>
                </a:solidFill>
              </a:rPr>
              <a:t>Warning — branch scope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FFFFFF"/>
                </a:solidFill>
              </a:rPr>
              <a:t>Skills pushed to feature/my-branch are only visible in sessions connected to that branch. Merge to main (or whichever branch your team uses) for the skill to be universally available.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5715000"/>
            <a:ext cx="5486400" cy="347472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5760720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Check what was committed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6062472"/>
            <a:ext cx="54864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6153912"/>
            <a:ext cx="526694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git log --oneline -3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git show --stat HEAD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5715000"/>
            <a:ext cx="5760720" cy="914400"/>
          </a:xfrm>
          <a:prstGeom prst="rect">
            <a:avLst/>
          </a:prstGeom>
          <a:solidFill>
            <a:srgbClr val="2D2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5788152"/>
            <a:ext cx="5486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7C3AED"/>
                </a:solidFill>
              </a:rPr>
              <a:t>Tip: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C4B5FD"/>
                </a:solidFill>
              </a:rPr>
              <a:t>Claude re-reads .claude/ on every new session start. Skills pushed after session start appear in the next session only.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6B7280"/>
                </a:solidFill>
              </a:rP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Step 5 — Open Claude App &amp; Navigate to Code 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C4B5FD"/>
                </a:solidFill>
              </a:rPr>
              <a:t>Mobile: iOS or Android  ·  Desktop: Mac or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49840" y="1051560"/>
            <a:ext cx="1828800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8128" y="1069848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000" b="1" i="0">
                <a:solidFill>
                  <a:srgbClr val="FFFFFF"/>
                </a:solidFill>
              </a:rPr>
              <a:t>Step 5  ·  OPEN 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" y="1188720"/>
            <a:ext cx="2084831" cy="4572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620" y="1216152"/>
            <a:ext cx="208483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2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8620" y="1645920"/>
            <a:ext cx="2084831" cy="2743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" y="1737360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7C3AED"/>
                </a:solidFill>
              </a:rPr>
              <a:t>Open Claude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" y="2176272"/>
            <a:ext cx="186537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CCBBFF"/>
                </a:solidFill>
              </a:rPr>
              <a:t>iOS or Android.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CCBBFF"/>
                </a:solidFill>
              </a:rPr>
              <a:t>Tap the Claude icon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CCBBFF"/>
                </a:solidFill>
              </a:rPr>
              <a:t>to open.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0884" y="2651760"/>
            <a:ext cx="246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600" b="1" i="0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20340" y="1188720"/>
            <a:ext cx="2084831" cy="4572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20340" y="1216152"/>
            <a:ext cx="208483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2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20340" y="1645920"/>
            <a:ext cx="2084831" cy="2743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0068" y="1737360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7C3AED"/>
                </a:solidFill>
              </a:rPr>
              <a:t>Tap Code Tab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0068" y="2176272"/>
            <a:ext cx="186537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CCBBFF"/>
                </a:solidFill>
              </a:rPr>
              <a:t>Bottom navigation bar.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CCBBFF"/>
                </a:solidFill>
              </a:rPr>
              <a:t>Select the 'Code' tab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CCBBFF"/>
                </a:solidFill>
              </a:rPr>
              <a:t>(laptop icon).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32604" y="2651760"/>
            <a:ext cx="246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600" b="1" i="0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52060" y="1188720"/>
            <a:ext cx="2084831" cy="4572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52060" y="1216152"/>
            <a:ext cx="208483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2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52060" y="1645920"/>
            <a:ext cx="2084831" cy="2743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1788" y="1737360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7C3AED"/>
                </a:solidFill>
              </a:rPr>
              <a:t>Tap New Session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788" y="2176272"/>
            <a:ext cx="186537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CCBBFF"/>
                </a:solidFill>
              </a:rPr>
              <a:t>Or continue an existing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CCBBFF"/>
                </a:solidFill>
              </a:rPr>
              <a:t>session that's already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CCBBFF"/>
                </a:solidFill>
              </a:rPr>
              <a:t>connected to your repo.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4324" y="2651760"/>
            <a:ext cx="246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600" b="1" i="0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83779" y="1188720"/>
            <a:ext cx="2084831" cy="4572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83779" y="1216152"/>
            <a:ext cx="208483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2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83779" y="1645920"/>
            <a:ext cx="2084831" cy="2743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3507" y="1737360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7C3AED"/>
                </a:solidFill>
              </a:rPr>
              <a:t>Select Repository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3507" y="2176272"/>
            <a:ext cx="186537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CCBBFF"/>
                </a:solidFill>
              </a:rPr>
              <a:t>Choose the GitHub repo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CCBBFF"/>
                </a:solidFill>
              </a:rPr>
              <a:t>that has your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CCBBFF"/>
                </a:solidFill>
              </a:rPr>
              <a:t>.claude/skills/ folder.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96043" y="2651760"/>
            <a:ext cx="246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600" b="1" i="0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15500" y="1188720"/>
            <a:ext cx="2084831" cy="4572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15500" y="1216152"/>
            <a:ext cx="208483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200" b="1" i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15500" y="1645920"/>
            <a:ext cx="2084831" cy="2743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25228" y="1737360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7C3AED"/>
                </a:solidFill>
              </a:rPr>
              <a:t>Session Starts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5228" y="2176272"/>
            <a:ext cx="186537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CCBBFF"/>
                </a:solidFill>
              </a:rPr>
              <a:t>Claude clones the repo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CCBBFF"/>
                </a:solidFill>
              </a:rPr>
              <a:t>and scans .claude/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CCBBFF"/>
                </a:solidFill>
              </a:rPr>
              <a:t>on startup.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590288"/>
            <a:ext cx="11612880" cy="987552"/>
          </a:xfrm>
          <a:prstGeom prst="rect">
            <a:avLst/>
          </a:prstGeom>
          <a:solidFill>
            <a:srgbClr val="2D2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663440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C4B5FD"/>
                </a:solidFill>
              </a:rPr>
              <a:t>Skills are registered at session start. If you pushed a new skill after starting the current session, you must start a NEW session for the skill to appear in the / autocomplete list.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742432"/>
            <a:ext cx="11612880" cy="868680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815584"/>
            <a:ext cx="11247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0" i="0">
                <a:solidFill>
                  <a:srgbClr val="88FFBB"/>
                </a:solidFill>
              </a:rPr>
              <a:t>Verification:  In the new session, type  /  in the chat input and look for your skill name in the autocomplete dropdown. If it's there, you're ready.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6B7280"/>
                </a:solidFill>
              </a:rP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Step 6 — Invoke Your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C4B5FD"/>
                </a:solidFill>
              </a:rPr>
              <a:t>Type / to see registered skills and trigger them with arguments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49840" y="1051560"/>
            <a:ext cx="1828800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8128" y="1069848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000" b="1" i="0">
                <a:solidFill>
                  <a:srgbClr val="FFFFFF"/>
                </a:solidFill>
              </a:rPr>
              <a:t>Step 6  ·  USE SKILL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303520" cy="347472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How to Trigger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90472"/>
            <a:ext cx="5303520" cy="5001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581912"/>
            <a:ext cx="5084064" cy="4864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1.  Type  /  in the chat input box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2.  Autocomplete shows all registered skills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3.  Select from the list or type the full name: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     /make-pptx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     /clinical-query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4.  Optionally add arguments after the command: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     /clinical-query diabetic kidney disease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     /make-pptx --dry-run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5.  Claude reads SKILL.md and executes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  the Instructions section step-by-step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6.  Arguments appear as args in the skill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  and Claude uses them as context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143000"/>
            <a:ext cx="6035040" cy="53492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23444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C4B5FD"/>
                </a:solidFill>
              </a:rPr>
              <a:t>Live session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64208"/>
            <a:ext cx="5669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1" i="0">
                <a:solidFill>
                  <a:srgbClr val="7C3AED"/>
                </a:solidFill>
              </a:rPr>
              <a:t>You: /clinical-query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</a:rPr>
              <a:t>     diabetic patient with kidney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</a:rPr>
              <a:t>     complications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6B7280"/>
                </a:solidFill>
              </a:rPr>
              <a:t>Claude: Reading SKILL.md…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6B7280"/>
                </a:solidFill>
              </a:rPr>
              <a:t>        Running retrieval pipeline…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1" i="0">
                <a:solidFill>
                  <a:srgbClr val="86EFAC"/>
                </a:solidFill>
              </a:rPr>
              <a:t>Rank  Score   Specialty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</a:rPr>
              <a:t>  1   0.985   Nephrology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</a:rPr>
              <a:t>  2   0.702   Endocrinology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</a:rPr>
              <a:t>  3   0.611   Internal Medicine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1" i="0">
                <a:solidFill>
                  <a:srgbClr val="86EFAC"/>
                </a:solidFill>
              </a:rPr>
              <a:t>Clinical Summary: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C4B5FD"/>
                </a:solidFill>
              </a:rPr>
              <a:t>The top result highlights stage-3 CKD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C4B5FD"/>
                </a:solidFill>
              </a:rPr>
              <a:t>in a T2DM patient (GFR 38). Red flag: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C4B5FD"/>
                </a:solidFill>
              </a:rPr>
              <a:t>proteinuria present across 3 of 5 notes.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6B7280"/>
                </a:solidFill>
              </a:rP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Step 7 — Passing Arguments to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C4B5FD"/>
                </a:solidFill>
              </a:rPr>
              <a:t>Skills accept arguments just like terminal commands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49840" y="1051560"/>
            <a:ext cx="1828800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8128" y="1069848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000" b="1" i="0">
                <a:solidFill>
                  <a:srgbClr val="FFFFFF"/>
                </a:solidFill>
              </a:rPr>
              <a:t>Step 7  ·  ARGS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11612880" cy="34747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FFFFFF"/>
                </a:solidFill>
              </a:rPr>
              <a:t>Syntax: /skill-name [arg1] [arg2] [--flag]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73352"/>
            <a:ext cx="11612880" cy="62179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19072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4C1D95"/>
                </a:solidFill>
              </a:rPr>
              <a:t>/make-pptx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719072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1">
                <a:solidFill>
                  <a:srgbClr val="6B7280"/>
                </a:solidFill>
              </a:rPr>
              <a:t>(no args)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719072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1E1B4B"/>
                </a:solidFill>
              </a:rPr>
              <a:t>Run default: regenerate Clinical_Note_Retrieval_System.pptx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295144"/>
            <a:ext cx="116128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340864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4C1D95"/>
                </a:solidFill>
              </a:rPr>
              <a:t>/make-pptx more detailed step by step ppt for both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340864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1">
                <a:solidFill>
                  <a:srgbClr val="6B7280"/>
                </a:solidFill>
              </a:rPr>
              <a:t>free-form args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340864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1E1B4B"/>
                </a:solidFill>
              </a:rPr>
              <a:t>Claude receives 'more detailed step by step ppt for both' as context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916936"/>
            <a:ext cx="11612880" cy="62179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62656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4C1D95"/>
                </a:solidFill>
              </a:rPr>
              <a:t>/clinical-query diabetic kidney disease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962656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1">
                <a:solidFill>
                  <a:srgbClr val="6B7280"/>
                </a:solidFill>
              </a:rPr>
              <a:t>query string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962656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1E1B4B"/>
                </a:solidFill>
              </a:rPr>
              <a:t>Runs retrieval with 'diabetic kidney disease' as the search query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538728"/>
            <a:ext cx="116128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584448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4C1D95"/>
                </a:solidFill>
              </a:rPr>
              <a:t>/clinical-query COPD with oxygen desaturation --top_k 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584448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1">
                <a:solidFill>
                  <a:srgbClr val="6B7280"/>
                </a:solidFill>
              </a:rPr>
              <a:t>query + flag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584448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1E1B4B"/>
                </a:solidFill>
              </a:rPr>
              <a:t>Claude extracts --top_k 10 and passes it to the retrieval call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206240"/>
            <a:ext cx="5669280" cy="23774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31596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7C3AED"/>
                </a:solidFill>
              </a:rPr>
              <a:t>How to handle args in SKILL.md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608576"/>
            <a:ext cx="5303520" cy="1883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6B7280"/>
                </a:solidFill>
              </a:rPr>
              <a:t>## Instructions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ARGUMENTS: {args}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When the user runs /my-skill: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- If no args: run the default action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- If args contain '--dry-run': show what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  would happen without doing it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- If args contain a filename: use that file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  instead of the default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4206240"/>
            <a:ext cx="5760720" cy="347472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4251959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Args best practices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4553712"/>
            <a:ext cx="5760720" cy="2029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6208" y="4645151"/>
            <a:ext cx="5541264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Free-form args: Claude interprets context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naturally — no special parsing needed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--flags are extracted by Claude naturally: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'--top_k 5', '--dry-run', '--format csv'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Reference ARGUMENTS in your Instructions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section so Claude knows they exist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Keep it simple — Claude handles ambiguity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6B7280"/>
                </a:solidFill>
              </a:rP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Real Example — /clinical-query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C4B5FD"/>
                </a:solidFill>
              </a:rPr>
              <a:t>The full SKILL.md for clinical note retrieval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49840" y="1051560"/>
            <a:ext cx="1828800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8128" y="1069848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000" b="1" i="0">
                <a:solidFill>
                  <a:srgbClr val="FFFFFF"/>
                </a:solidFill>
              </a:rPr>
              <a:t>Step EX 1  ·  EXAMPLE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7315200" cy="54864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52728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7C3AED"/>
                </a:solidFill>
              </a:rPr>
              <a:t>.claude/skills/clinical-query/SKILL.md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45336"/>
            <a:ext cx="6949440" cy="499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6B7280"/>
                </a:solidFill>
              </a:rPr>
              <a:t># /clinical-query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Run a semantic search over the indexed clinical notes.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Returns top-k ranked results with cosine scores and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an LLM-generated clinical summary.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6B7280"/>
                </a:solidFill>
              </a:rPr>
              <a:t>## Usage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/clinical-query &lt;natural language clinical scenario&gt;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6B7280"/>
                </a:solidFill>
              </a:rPr>
              <a:t>## What this skill does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1. Calls the retrieval pipeline with the query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2. Prints ranked results table (rank, score, specialty)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3. Shows the LLM clinical summary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4. Reports score spread across top-k results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6B7280"/>
                </a:solidFill>
              </a:rPr>
              <a:t>## Instructions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When the user runs /clinical-query: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1. Extract the query from ARGUMENTS (everything after /clinical-query)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2. Run: python scripts/demo.py "&lt;query&gt;"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3. Parse and display the results as a Markdown table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4. Print the clinical summary below the table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5. Note the score spread (rank-1 score minus rank-k score)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6B7280"/>
                </a:solidFill>
              </a:rPr>
              <a:t>## Output format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A Markdown table: Rank | Score | Specialty | Description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Followed by the LLM clinical summary paragraph.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143000"/>
            <a:ext cx="4023360" cy="347472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1188720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Key design decisions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490472"/>
            <a:ext cx="4023360" cy="2395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73567" y="1581912"/>
            <a:ext cx="3803904" cy="225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Query extracted from ARGUMENTS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— no special parsing needed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Uses scripts/demo.py — named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explicitly so Claude doesn't guess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Output format specified exactly: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Markdown table + summary paragraph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Score spread reported — helps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the user assess confidence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4069080"/>
            <a:ext cx="4023360" cy="347472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4114800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Result in chat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4416552"/>
            <a:ext cx="4023360" cy="2212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7" y="4507992"/>
            <a:ext cx="3803904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Rank  Score   Specialty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1     0.985   Nephrology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2     0.702   Endocrinology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3     0.611   Internal Medicine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Clinical Summary: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The top result highlights stage-3 CKD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in a T2DM patient (GFR 38)…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6B7280"/>
                </a:solidFill>
              </a:rP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Real Example — /make-pptx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C4B5FD"/>
                </a:solidFill>
              </a:rPr>
              <a:t>The full SKILL.md for PPTX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49840" y="1051560"/>
            <a:ext cx="1828800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8128" y="1069848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000" b="1" i="0">
                <a:solidFill>
                  <a:srgbClr val="FFFFFF"/>
                </a:solidFill>
              </a:rPr>
              <a:t>Step EX 2  ·  EXAMPLE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7315200" cy="54864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52728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7C3AED"/>
                </a:solidFill>
              </a:rPr>
              <a:t>.claude/skills/make-pptx/SKILL.md (excerpt)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45336"/>
            <a:ext cx="6949440" cy="499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6B7280"/>
                </a:solidFill>
              </a:rPr>
              <a:t># /make-pptx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Generate, QA, and deliver a .pptx presentation.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6B7280"/>
                </a:solidFill>
              </a:rPr>
              <a:t>## Usage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/make-pptx [instructions]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6B7280"/>
                </a:solidFill>
              </a:rPr>
              <a:t>## What this skill does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1. Runs scripts/make_pptx.py (or follows instructions)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2. Extracts text with markitdown for content QA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3. Converts to images for visual QA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4. Fixes issues found in QA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5. Delivers the .pptx file to the user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6. Commits and pushes to the repo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6B7280"/>
                </a:solidFill>
              </a:rPr>
              <a:t>## Instructions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When the user runs /make-pptx: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1. Read the ARGUMENTS — if they contain specific instructions,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   follow those; otherwise regenerate the default presentation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2. Install deps: pip install python-pptx markitdown --quiet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3. Run: python3 scripts/make_pptx.py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4. QA: python -m markitdown output.pptx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5. Fix any missing content, placeholders, or layout issues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6. Deliver the .pptx file to the user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4B5FD"/>
                </a:solidFill>
              </a:rPr>
              <a:t>7. Commit and push: git add *.pptx &amp;&amp; git commit -m '...'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143000"/>
            <a:ext cx="4023360" cy="347472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1188720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What makes this skill robust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490472"/>
            <a:ext cx="4023360" cy="2350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73567" y="1581912"/>
            <a:ext cx="3803904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ARGUMENTS checked first — skill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adapts to instructions dynamically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Deps installed inline — no manual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setup step for the user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QA step is mandatory — not optional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Commit + push included — user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doesn't need to do it manually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References pptxgenjs.md and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editing.md for long guides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4023360"/>
            <a:ext cx="4023360" cy="347472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4069080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Supporting files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4370832"/>
            <a:ext cx="4023360" cy="2258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7" y="4462272"/>
            <a:ext cx="3803904" cy="212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.claude/skills/make-pptx/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SKILL.md         ← this file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pptxgenjs.md     ← create from scratch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editing.md       ← edit existing .pptx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Claude reads them when SKILL.md says: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'Read pptxgenjs.md for full details'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6B7280"/>
                </a:solidFill>
              </a:rP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Step 8 — Debug If Your Skill Doesn't Appear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C4B5FD"/>
                </a:solidFill>
              </a:rPr>
              <a:t>Systematic checklist for common problems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49840" y="1051560"/>
            <a:ext cx="1828800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8128" y="1069848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000" b="1" i="0">
                <a:solidFill>
                  <a:srgbClr val="FFFFFF"/>
                </a:solidFill>
              </a:rPr>
              <a:t>Step 8  ·  DEBUG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70432"/>
            <a:ext cx="11612880" cy="27432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97864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FFFFFF"/>
                </a:solidFill>
              </a:rPr>
              <a:t>Skill not in / list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44752"/>
            <a:ext cx="11612880" cy="274320"/>
          </a:xfrm>
          <a:prstGeom prst="rect">
            <a:avLst/>
          </a:prstGeom>
          <a:solidFill>
            <a:srgbClr val="5C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72184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1">
                <a:solidFill>
                  <a:srgbClr val="FFCC88"/>
                </a:solidFill>
              </a:rPr>
              <a:t>The most common cause: you're on a different branch than what you pushed 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719072"/>
            <a:ext cx="11612880" cy="50292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764792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4C1D95"/>
                </a:solidFill>
              </a:rPr>
              <a:t>→  Check: git branch --show-current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4C1D95"/>
                </a:solidFill>
              </a:rPr>
              <a:t>   →  Fix: git push -u origin &lt;your-current-branch&gt;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4C1D95"/>
                </a:solidFill>
              </a:rPr>
              <a:t>   →  Or: merge the skill branch to main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295144"/>
            <a:ext cx="11612880" cy="27432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322576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FFFFFF"/>
                </a:solidFill>
              </a:rPr>
              <a:t>Skill pushed but still missing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569464"/>
            <a:ext cx="11612880" cy="274320"/>
          </a:xfrm>
          <a:prstGeom prst="rect">
            <a:avLst/>
          </a:prstGeom>
          <a:solidFill>
            <a:srgbClr val="5C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596896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1">
                <a:solidFill>
                  <a:srgbClr val="FFCC88"/>
                </a:solidFill>
              </a:rPr>
              <a:t>Claude reads .claude/ only at session start — a running session won't pick up new skills.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843784"/>
            <a:ext cx="11612880" cy="50292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889503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4C1D95"/>
                </a:solidFill>
              </a:rPr>
              <a:t>→  Fix: start a brand-new session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4C1D95"/>
                </a:solidFill>
              </a:rPr>
              <a:t>   →  Verify: type / — the skill should appear in autocomplete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4C1D95"/>
                </a:solidFill>
              </a:rPr>
              <a:t>   →  Check: git log --oneline -3 to confirm the commit reached GitHub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419856"/>
            <a:ext cx="11612880" cy="27432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447287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FFFFFF"/>
                </a:solidFill>
              </a:rPr>
              <a:t>Skill appears but Claude ignores the steps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694176"/>
            <a:ext cx="11612880" cy="274320"/>
          </a:xfrm>
          <a:prstGeom prst="rect">
            <a:avLst/>
          </a:prstGeom>
          <a:solidFill>
            <a:srgbClr val="5C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721608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1">
                <a:solidFill>
                  <a:srgbClr val="FFCC88"/>
                </a:solidFill>
              </a:rPr>
              <a:t>Instructions are too vague — Claude interprets loosely rather than follows exactly.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68496"/>
            <a:ext cx="11612880" cy="50292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014215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4C1D95"/>
                </a:solidFill>
              </a:rPr>
              <a:t>→  Fix: name files, commands, and outputs explicitly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4C1D95"/>
                </a:solidFill>
              </a:rPr>
              <a:t>   →  Replace 'run the script' with 'run: python scripts/make_pptx.py'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4C1D95"/>
                </a:solidFill>
              </a:rPr>
              <a:t>   →  Add numbered steps — Claude follows ordered lists reliably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544568"/>
            <a:ext cx="11612880" cy="27432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FFFFFF"/>
                </a:solidFill>
              </a:rPr>
              <a:t># heading doesn't match folder name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818888"/>
            <a:ext cx="11612880" cy="274320"/>
          </a:xfrm>
          <a:prstGeom prst="rect">
            <a:avLst/>
          </a:prstGeom>
          <a:solidFill>
            <a:srgbClr val="5C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846320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1">
                <a:solidFill>
                  <a:srgbClr val="FFCC88"/>
                </a:solidFill>
              </a:rPr>
              <a:t>The slash command name is derived from the folder — SKILL.md # heading must match.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093207"/>
            <a:ext cx="11612880" cy="50292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138927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4C1D95"/>
                </a:solidFill>
              </a:rPr>
              <a:t>→  Folder: .claude/skills/my-skill/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4C1D95"/>
                </a:solidFill>
              </a:rPr>
              <a:t>   →  SKILL.md first line must be: # /my-skill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4C1D95"/>
                </a:solidFill>
              </a:rPr>
              <a:t>   →  Not: # My Skill  or  # /My-Skill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669279"/>
            <a:ext cx="11612880" cy="566928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742431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88FFBB"/>
                </a:solidFill>
              </a:rPr>
              <a:t>Quickest debug: open a new session → type / → if your skill name appears, it's working. If not, check git log on GitHub to confirm the push reached the right branch.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6B7280"/>
                </a:solidFill>
              </a:rP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000" b="1" i="0">
                <a:solidFill>
                  <a:srgbClr val="FFFFFF"/>
                </a:solidFill>
              </a:rPr>
              <a:t>Best Practices &amp;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394960" cy="5257800"/>
          </a:xfrm>
          <a:prstGeom prst="rect">
            <a:avLst/>
          </a:prstGeom>
          <a:solidFill>
            <a:srgbClr val="2D2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600" b="1" i="0">
                <a:solidFill>
                  <a:srgbClr val="7C3AED"/>
                </a:solidFill>
              </a:rPr>
              <a:t>10 Rules for Great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✓  One skill per folder, one SKILL.md per skill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✓  Folder name = slash command name exactly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✓  # heading must match folder name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✓  Keep Instructions concrete and numbered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✓  Name files and commands explicitly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✓  Specify output format — Claude won't guess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✓  Keep SKILL.md under 100 lines — use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    companion .md files for long content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✓  Version-control skills with your code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✓  Start a fresh session after every push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✓  Test by running the skill end-to-end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005840"/>
            <a:ext cx="5760720" cy="5257800"/>
          </a:xfrm>
          <a:prstGeom prst="rect">
            <a:avLst/>
          </a:prstGeom>
          <a:solidFill>
            <a:srgbClr val="2D2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097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600" b="1" i="0">
                <a:solidFill>
                  <a:srgbClr val="7C3AED"/>
                </a:solidFill>
              </a:rPr>
              <a:t>5-Step Quick Reference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</a:rPr>
              <a:t>1.  mkdir -p .claude/skills/my-skill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</a:rPr>
              <a:t>    touch .claude/skills/my-skill/SKILL.md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</a:rPr>
              <a:t>2.  Write SKILL.md: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</a:rPr>
              <a:t>    # /my-skill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</a:rPr>
              <a:t>    ## Instructions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</a:rPr>
              <a:t>    When the user runs /my-skill: …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</a:rPr>
              <a:t>3.  git add .claude/skills/my-skill/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</a:rPr>
              <a:t>    git commit -m 'Add /my-skill skill'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</a:rPr>
              <a:t>    git push -u origin main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</a:rPr>
              <a:t>4.  Open Claude App → Code tab → New Session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</a:rPr>
              <a:t>    Connect the repository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</a:rPr>
              <a:t>5.  Type /my-skill in the chat → 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100" b="0" i="0">
                <a:solidFill>
                  <a:srgbClr val="6B7280"/>
                </a:solidFill>
              </a:rPr>
              <a:t>Skills are Markdown files committed to your repo — no servers, no plugins, just push and go.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6B7280"/>
                </a:solidFill>
              </a:rP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